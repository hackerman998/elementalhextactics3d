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Kris and the Toge team, I'm Elang, a solo indie developer from Indonesia. Today I'm pitching Elemental Hex Tactics, a 2.5D tactical RPG inspired by Brigandine and Final Fantasy Tactics, where players command both Masters and Monsters while terraforming the board as an interactive weapon.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one-page executive summary covering high concept, genre, key features, target audience, and business model. This proves our product scope is clear, commercial, and realistic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solved two major tactical RPG frustrations: Ghost UI eliminates cognitive overload by previewing reactions before casting, and hybrid attack-spells remove setup tax so every single turn feels impactful.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Brigandine proved that players love hex-grid monster commanding on Steam. Vanaris and Into the Breach proved the market for retro tactics and kinetic shoves. Elemental Hex Tactics combines these proven elements into streamlined, deliberate HD-2D matches.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core loop connects Master and Monster: your Master alters the terrain and pushes enemies, while your Monster holds the frontline, buffs itself on the elemental tiles, drains the land for energy, and wipes out the opposition with Cataclysms.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squad features asymmetric roles: your fragile Master shapes the terrain and controls space, while your Monster holds the frontline, absorbs environmental energy, and delivers the finishing blows.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aren't pitching an unproven idea. The vertical slice is completely built, tested, and playable today. You can run the Windows build from my submission and experience the Master and Titan synergy firsthand.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3-part visual progression: our verified working prototype in Unity 6, our hex combat reference in Brigandine, and our target HD-2D visual benchmark. This proves we have a working foundation, a clear commercial reference, and a mathematically viable $1,200 asset pipeline.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individual battles, the campaign features a node-based expedition map with spellbook upgrades, monster squad customization, and zero level grinding.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core game mechanics and physics already proven in Unity, the next 6 months are focused purely on production: commissioning custom sprite animations, adding 2 more biomes, and shipping a public Steam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chose a disciplined $6,000 budget. $600 a month covers my living costs in Indonesia so I can commit full-time for 6 months, while the rest commissions dedicated pixel art, music, and covers the Steam fee. Thank you for your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1005840"/>
            <a:ext cx="5669280" cy="5303520"/>
          </a:xfrm>
          <a:prstGeom prst="rect">
            <a:avLst/>
          </a:prstGeom>
          <a:noFill/>
        </p:spPr>
        <p:txBody>
          <a:bodyPr wrap="square">
            <a:spAutoFit/>
          </a:bodyPr>
          <a:lstStyle/>
          <a:p>
            <a:pPr>
              <a:defRPr sz="1200" b="1">
                <a:solidFill>
                  <a:srgbClr val="06B6D4"/>
                </a:solidFill>
              </a:defRPr>
            </a:pPr>
            <a:r>
              <a:t>TOGE GAME FUND INITIATIVE (TGFI) PITCH</a:t>
            </a:r>
          </a:p>
          <a:p>
            <a:pPr>
              <a:spcAft>
                <a:spcPts val="600"/>
              </a:spcAft>
              <a:defRPr sz="3600" b="1">
                <a:solidFill>
                  <a:srgbClr val="F59E0B"/>
                </a:solidFill>
              </a:defRPr>
            </a:pPr>
            <a:r>
              <a:t>ELEMENTAL HEX TACTICS</a:t>
            </a:r>
          </a:p>
          <a:p>
            <a:pPr>
              <a:spcAft>
                <a:spcPts val="1200"/>
              </a:spcAft>
              <a:defRPr sz="1800" b="1">
                <a:solidFill>
                  <a:srgbClr val="06B6D4"/>
                </a:solidFill>
              </a:defRPr>
            </a:pPr>
            <a:r>
              <a:t>"Brigandine meets Final Fantasy Tactics"</a:t>
            </a:r>
          </a:p>
          <a:p>
            <a:pPr>
              <a:spcAft>
                <a:spcPts val="1800"/>
              </a:spcAft>
              <a:defRPr sz="1300">
                <a:solidFill>
                  <a:srgbClr val="F3F4F6"/>
                </a:solidFill>
              </a:defRPr>
            </a:pPr>
            <a:r>
              <a:t>A rich, streamlined 2.5D tactical RPG where players directly command both Human Masters and colossal Monsters. Reshape 3D terrain with elemental magic, shove enemies into hazards, and harvest the land to unleash devastating Titan Cataclysms.</a:t>
            </a:r>
          </a:p>
          <a:p>
            <a:pPr>
              <a:defRPr sz="1200">
                <a:solidFill>
                  <a:srgbClr val="9CA3AF"/>
                </a:solidFill>
              </a:defRPr>
            </a:pPr>
            <a:r>
              <a:t>👤 Developer: Elang Esa Yudhistira (Solo Indie Dev)</a:t>
            </a:r>
            <a:br/>
            <a:r>
              <a:t>📍 Location: Indonesia 🇮🇩</a:t>
            </a:r>
            <a:br/>
            <a:r>
              <a:t>🌐 Portfolio: https://nealverse.itch.io</a:t>
            </a:r>
            <a:br/>
            <a:r>
              <a:t>✉️ Email: yelangesa@gmail.com</a:t>
            </a:r>
            <a:br/>
            <a:r>
              <a:t>⚙️ Engine: Unity 6 (URP 3D)</a:t>
            </a:r>
            <a:br/>
            <a:r>
              <a:t>🎮 Playable Prototype: Standalone Windows .exe Ready</a:t>
            </a:r>
          </a:p>
        </p:txBody>
      </p:sp>
      <p:pic>
        <p:nvPicPr>
          <p:cNvPr id="3" name="Picture 2" descr="gameplay_action.png"/>
          <p:cNvPicPr>
            <a:picLocks noChangeAspect="1"/>
          </p:cNvPicPr>
          <p:nvPr/>
        </p:nvPicPr>
        <p:blipFill>
          <a:blip r:embed="rId2"/>
          <a:stretch>
            <a:fillRect/>
          </a:stretch>
        </p:blipFill>
        <p:spPr>
          <a:xfrm>
            <a:off x="6583680" y="1005840"/>
            <a:ext cx="4846320" cy="2735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2: EXECUTIVE SUMMARY</a:t>
            </a:r>
          </a:p>
          <a:p>
            <a:pPr>
              <a:defRPr sz="2400" b="1">
                <a:solidFill>
                  <a:srgbClr val="F3F4F6"/>
                </a:solidFill>
              </a:defRPr>
            </a:pPr>
            <a:r>
              <a:t>TL;DR Overview: One-Page Executive Summary</a:t>
            </a:r>
          </a:p>
        </p:txBody>
      </p:sp>
      <p:sp>
        <p:nvSpPr>
          <p:cNvPr id="3" name="Rounded Rectangle 2"/>
          <p:cNvSpPr/>
          <p:nvPr/>
        </p:nvSpPr>
        <p:spPr>
          <a:xfrm>
            <a:off x="731520" y="1645920"/>
            <a:ext cx="5212080" cy="466344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High Concept &amp; Gameplay Pillars</a:t>
            </a:r>
          </a:p>
          <a:p>
            <a:pPr>
              <a:spcAft>
                <a:spcPts val="300"/>
              </a:spcAft>
              <a:defRPr sz="1150">
                <a:solidFill>
                  <a:srgbClr val="F3F4F6"/>
                </a:solidFill>
              </a:defRPr>
            </a:pPr>
            <a:r>
              <a:t>• High Concept:</a:t>
            </a:r>
          </a:p>
          <a:p>
            <a:pPr>
              <a:spcAft>
                <a:spcPts val="300"/>
              </a:spcAft>
              <a:defRPr sz="1150">
                <a:solidFill>
                  <a:srgbClr val="F3F4F6"/>
                </a:solidFill>
              </a:defRPr>
            </a:pPr>
            <a:r>
              <a:t>  A streamlined 2.5D tactical RPG where players command both Human Masters and colossal Monsters, terraforming 3D hex terrain with elemental magic to fuel Titan Cataclysms.</a:t>
            </a:r>
          </a:p>
          <a:p>
            <a:pPr>
              <a:spcAft>
                <a:spcPts val="300"/>
              </a:spcAft>
              <a:defRPr sz="1150">
                <a:solidFill>
                  <a:srgbClr val="F3F4F6"/>
                </a:solidFill>
              </a:defRPr>
            </a:pPr>
          </a:p>
          <a:p>
            <a:pPr>
              <a:spcAft>
                <a:spcPts val="300"/>
              </a:spcAft>
              <a:defRPr sz="1150">
                <a:solidFill>
                  <a:srgbClr val="F3F4F6"/>
                </a:solidFill>
              </a:defRPr>
            </a:pPr>
            <a:r>
              <a:t>• Genre &amp; Engine:</a:t>
            </a:r>
          </a:p>
          <a:p>
            <a:pPr>
              <a:spcAft>
                <a:spcPts val="300"/>
              </a:spcAft>
              <a:defRPr sz="1150">
                <a:solidFill>
                  <a:srgbClr val="F3F4F6"/>
                </a:solidFill>
              </a:defRPr>
            </a:pPr>
            <a:r>
              <a:t>  2.5D Turn-Based Tactical RPG (Hex Grid) | Unity 6 URP 3D</a:t>
            </a:r>
          </a:p>
          <a:p>
            <a:pPr>
              <a:spcAft>
                <a:spcPts val="300"/>
              </a:spcAft>
              <a:defRPr sz="1150">
                <a:solidFill>
                  <a:srgbClr val="F3F4F6"/>
                </a:solidFill>
              </a:defRPr>
            </a:pPr>
          </a:p>
          <a:p>
            <a:pPr>
              <a:spcAft>
                <a:spcPts val="300"/>
              </a:spcAft>
              <a:defRPr sz="1150">
                <a:solidFill>
                  <a:srgbClr val="F3F4F6"/>
                </a:solidFill>
              </a:defRPr>
            </a:pPr>
            <a:r>
              <a:t>• Core Gameplay Experience:</a:t>
            </a:r>
          </a:p>
          <a:p>
            <a:pPr>
              <a:spcAft>
                <a:spcPts val="300"/>
              </a:spcAft>
              <a:defRPr sz="1150">
                <a:solidFill>
                  <a:srgbClr val="F3F4F6"/>
                </a:solidFill>
              </a:defRPr>
            </a:pPr>
            <a:r>
              <a:t>  Deliberate turn-based tactical maneuvering without filler turns. Masters reshape terrain and push enemies, while Monsters hold the frontline and siphon land for ultimate abilities.</a:t>
            </a:r>
          </a:p>
          <a:p>
            <a:pPr>
              <a:spcAft>
                <a:spcPts val="300"/>
              </a:spcAft>
              <a:defRPr sz="1150">
                <a:solidFill>
                  <a:srgbClr val="F3F4F6"/>
                </a:solidFill>
              </a:defRPr>
            </a:pPr>
          </a:p>
          <a:p>
            <a:pPr>
              <a:spcAft>
                <a:spcPts val="300"/>
              </a:spcAft>
              <a:defRPr sz="1150">
                <a:solidFill>
                  <a:srgbClr val="F3F4F6"/>
                </a:solidFill>
              </a:defRPr>
            </a:pPr>
            <a:r>
              <a:t>• Key Features:</a:t>
            </a:r>
          </a:p>
          <a:p>
            <a:pPr>
              <a:spcAft>
                <a:spcPts val="300"/>
              </a:spcAft>
              <a:defRPr sz="1150">
                <a:solidFill>
                  <a:srgbClr val="F3F4F6"/>
                </a:solidFill>
              </a:defRPr>
            </a:pPr>
            <a:r>
              <a:t>  1. Offensive 3D Terraforming (Lava moats, steam clouds, ice bridges)</a:t>
            </a:r>
          </a:p>
          <a:p>
            <a:pPr>
              <a:spcAft>
                <a:spcPts val="300"/>
              </a:spcAft>
              <a:defRPr sz="1150">
                <a:solidFill>
                  <a:srgbClr val="F3F4F6"/>
                </a:solidFill>
              </a:defRPr>
            </a:pPr>
            <a:r>
              <a:t>  2. Master &amp; Monster Dual-Command (Asymmetric squad synergy)</a:t>
            </a:r>
          </a:p>
          <a:p>
            <a:pPr>
              <a:spcAft>
                <a:spcPts val="300"/>
              </a:spcAft>
              <a:defRPr sz="1150">
                <a:solidFill>
                  <a:srgbClr val="F3F4F6"/>
                </a:solidFill>
              </a:defRPr>
            </a:pPr>
            <a:r>
              <a:t>  3. Kinetic Shove Physics &amp; Collision Impacts</a:t>
            </a:r>
          </a:p>
          <a:p>
            <a:pPr>
              <a:spcAft>
                <a:spcPts val="300"/>
              </a:spcAft>
              <a:defRPr sz="1150">
                <a:solidFill>
                  <a:srgbClr val="F3F4F6"/>
                </a:solidFill>
              </a:defRPr>
            </a:pPr>
            <a:r>
              <a:t>  4. Land Siphoning &amp; Room-Clearing Titan Cataclysms</a:t>
            </a:r>
          </a:p>
        </p:txBody>
      </p:sp>
      <p:sp>
        <p:nvSpPr>
          <p:cNvPr id="4" name="Rounded Rectangle 3"/>
          <p:cNvSpPr/>
          <p:nvPr/>
        </p:nvSpPr>
        <p:spPr>
          <a:xfrm>
            <a:off x="6217920" y="1645920"/>
            <a:ext cx="5212080" cy="466344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Market, Platform &amp; Business Model</a:t>
            </a:r>
          </a:p>
          <a:p>
            <a:pPr>
              <a:spcAft>
                <a:spcPts val="300"/>
              </a:spcAft>
              <a:defRPr sz="1150">
                <a:solidFill>
                  <a:srgbClr val="F3F4F6"/>
                </a:solidFill>
              </a:defRPr>
            </a:pPr>
            <a:r>
              <a:t>• Target Audience:</a:t>
            </a:r>
          </a:p>
          <a:p>
            <a:pPr>
              <a:spcAft>
                <a:spcPts val="300"/>
              </a:spcAft>
              <a:defRPr sz="1150">
                <a:solidFill>
                  <a:srgbClr val="F3F4F6"/>
                </a:solidFill>
              </a:defRPr>
            </a:pPr>
            <a:r>
              <a:t>  Ages 18–35. Passionate fans of classic turn-based tactics (Brigandine, Final Fantasy Tactics, Tactics Ogre) and modern tactical hits (Triangle Strategy, Into the Breach).</a:t>
            </a:r>
          </a:p>
          <a:p>
            <a:pPr>
              <a:spcAft>
                <a:spcPts val="300"/>
              </a:spcAft>
              <a:defRPr sz="1150">
                <a:solidFill>
                  <a:srgbClr val="F3F4F6"/>
                </a:solidFill>
              </a:defRPr>
            </a:pPr>
          </a:p>
          <a:p>
            <a:pPr>
              <a:spcAft>
                <a:spcPts val="300"/>
              </a:spcAft>
              <a:defRPr sz="1150">
                <a:solidFill>
                  <a:srgbClr val="F3F4F6"/>
                </a:solidFill>
              </a:defRPr>
            </a:pPr>
            <a:r>
              <a:t>• Target Platform:</a:t>
            </a:r>
          </a:p>
          <a:p>
            <a:pPr>
              <a:spcAft>
                <a:spcPts val="300"/>
              </a:spcAft>
              <a:defRPr sz="1150">
                <a:solidFill>
                  <a:srgbClr val="F3F4F6"/>
                </a:solidFill>
              </a:defRPr>
            </a:pPr>
            <a:r>
              <a:t>  PC Steam (Windows 10/11) with Steam Deck verified targets. Console ports (Switch / PlayStation) feasible upon full commercial publishing.</a:t>
            </a:r>
          </a:p>
          <a:p>
            <a:pPr>
              <a:spcAft>
                <a:spcPts val="300"/>
              </a:spcAft>
              <a:defRPr sz="1150">
                <a:solidFill>
                  <a:srgbClr val="F3F4F6"/>
                </a:solidFill>
              </a:defRPr>
            </a:pPr>
          </a:p>
          <a:p>
            <a:pPr>
              <a:spcAft>
                <a:spcPts val="300"/>
              </a:spcAft>
              <a:defRPr sz="1150">
                <a:solidFill>
                  <a:srgbClr val="F3F4F6"/>
                </a:solidFill>
              </a:defRPr>
            </a:pPr>
            <a:r>
              <a:t>• Business Model:</a:t>
            </a:r>
          </a:p>
          <a:p>
            <a:pPr>
              <a:spcAft>
                <a:spcPts val="300"/>
              </a:spcAft>
              <a:defRPr sz="1150">
                <a:solidFill>
                  <a:srgbClr val="F3F4F6"/>
                </a:solidFill>
              </a:defRPr>
            </a:pPr>
            <a:r>
              <a:t>  Premium Single-Player Indie ($14.99 – $19.99 USD) with zero microtransactions or paywalls.</a:t>
            </a:r>
          </a:p>
          <a:p>
            <a:pPr>
              <a:spcAft>
                <a:spcPts val="300"/>
              </a:spcAft>
              <a:defRPr sz="1150">
                <a:solidFill>
                  <a:srgbClr val="F3F4F6"/>
                </a:solidFill>
              </a:defRPr>
            </a:pPr>
          </a:p>
          <a:p>
            <a:pPr>
              <a:spcAft>
                <a:spcPts val="300"/>
              </a:spcAft>
              <a:defRPr sz="1150">
                <a:solidFill>
                  <a:srgbClr val="F3F4F6"/>
                </a:solidFill>
              </a:defRPr>
            </a:pPr>
            <a:r>
              <a:t>• Current State &amp; Demo Scope:</a:t>
            </a:r>
          </a:p>
          <a:p>
            <a:pPr>
              <a:spcAft>
                <a:spcPts val="300"/>
              </a:spcAft>
              <a:defRPr sz="1150">
                <a:solidFill>
                  <a:srgbClr val="F3F4F6"/>
                </a:solidFill>
              </a:defRPr>
            </a:pPr>
            <a:r>
              <a:t>  Verified Unity 6 vertical slice (Month 0). $6,000 TGFI grant funds 6 months to expand into a high-retention 30-minute Steam Next Fest demo.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3: MARKET OPPORTUNITY</a:t>
            </a:r>
          </a:p>
          <a:p>
            <a:pPr>
              <a:defRPr sz="2400" b="1">
                <a:solidFill>
                  <a:srgbClr val="F3F4F6"/>
                </a:solidFill>
              </a:defRPr>
            </a:pPr>
            <a:r>
              <a:t>Market Opportunity: Solving SRPG Frustrations</a:t>
            </a:r>
          </a:p>
        </p:txBody>
      </p:sp>
      <p:sp>
        <p:nvSpPr>
          <p:cNvPr id="3" name="Rounded Rectangle 2"/>
          <p:cNvSpPr/>
          <p:nvPr/>
        </p:nvSpPr>
        <p:spPr>
          <a:xfrm>
            <a:off x="731520" y="1645920"/>
            <a:ext cx="5212080" cy="45720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Solving 'Cognitive Overload'</a:t>
            </a:r>
          </a:p>
          <a:p>
            <a:pPr>
              <a:spcAft>
                <a:spcPts val="300"/>
              </a:spcAft>
              <a:defRPr sz="1150">
                <a:solidFill>
                  <a:srgbClr val="F3F4F6"/>
                </a:solidFill>
              </a:defRPr>
            </a:pPr>
            <a:r>
              <a:t>The Problem in Classic SRPGs:</a:t>
            </a:r>
          </a:p>
          <a:p>
            <a:pPr>
              <a:spcAft>
                <a:spcPts val="300"/>
              </a:spcAft>
              <a:defRPr sz="1150">
                <a:solidFill>
                  <a:srgbClr val="F3F4F6"/>
                </a:solidFill>
              </a:defRPr>
            </a:pPr>
            <a:r>
              <a:t>Classic elemental tactics games overwhelm players with dozens of confusing status effect icons, elemental charts, and hidden percentage calculation tables.</a:t>
            </a:r>
          </a:p>
          <a:p>
            <a:pPr>
              <a:spcAft>
                <a:spcPts val="300"/>
              </a:spcAft>
              <a:defRPr sz="1150">
                <a:solidFill>
                  <a:srgbClr val="F3F4F6"/>
                </a:solidFill>
              </a:defRPr>
            </a:pPr>
          </a:p>
          <a:p>
            <a:pPr>
              <a:spcAft>
                <a:spcPts val="300"/>
              </a:spcAft>
              <a:defRPr sz="1150">
                <a:solidFill>
                  <a:srgbClr val="F3F4F6"/>
                </a:solidFill>
              </a:defRPr>
            </a:pPr>
            <a:r>
              <a:t>Our Solution: Ghost UI (Predictive Preview)</a:t>
            </a:r>
          </a:p>
          <a:p>
            <a:pPr>
              <a:spcAft>
                <a:spcPts val="300"/>
              </a:spcAft>
              <a:defRPr sz="1150">
                <a:solidFill>
                  <a:srgbClr val="F3F4F6"/>
                </a:solidFill>
              </a:defRPr>
            </a:pPr>
            <a:r>
              <a:t>Hovering any spell or push action over a tile immediately previews the exact physical terrain reaction and knockback path before the player commits.</a:t>
            </a:r>
          </a:p>
          <a:p>
            <a:pPr>
              <a:spcAft>
                <a:spcPts val="300"/>
              </a:spcAft>
              <a:defRPr sz="1150">
                <a:solidFill>
                  <a:srgbClr val="F3F4F6"/>
                </a:solidFill>
              </a:defRPr>
            </a:pPr>
          </a:p>
          <a:p>
            <a:pPr>
              <a:spcAft>
                <a:spcPts val="300"/>
              </a:spcAft>
              <a:defRPr sz="1150">
                <a:solidFill>
                  <a:srgbClr val="F3F4F6"/>
                </a:solidFill>
              </a:defRPr>
            </a:pPr>
            <a:r>
              <a:t>Result: Deep tactical planning with zero mental fatigue.</a:t>
            </a:r>
          </a:p>
        </p:txBody>
      </p:sp>
      <p:sp>
        <p:nvSpPr>
          <p:cNvPr id="4" name="Rounded Rectangle 3"/>
          <p:cNvSpPr/>
          <p:nvPr/>
        </p:nvSpPr>
        <p:spPr>
          <a:xfrm>
            <a:off x="6217920" y="1645920"/>
            <a:ext cx="5212080" cy="45720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2. Solving 'Setup Tax'</a:t>
            </a:r>
          </a:p>
          <a:p>
            <a:pPr>
              <a:spcAft>
                <a:spcPts val="300"/>
              </a:spcAft>
              <a:defRPr sz="1150">
                <a:solidFill>
                  <a:srgbClr val="F3F4F6"/>
                </a:solidFill>
              </a:defRPr>
            </a:pPr>
            <a:r>
              <a:t>The Problem in Classic SRPGs:</a:t>
            </a:r>
          </a:p>
          <a:p>
            <a:pPr>
              <a:spcAft>
                <a:spcPts val="300"/>
              </a:spcAft>
              <a:defRPr sz="1150">
                <a:solidFill>
                  <a:srgbClr val="F3F4F6"/>
                </a:solidFill>
              </a:defRPr>
            </a:pPr>
            <a:r>
              <a:t>Players hate wasting valuable turns just preparing terrain or placing elemental tiles without dealing actual damage to enemies.</a:t>
            </a:r>
          </a:p>
          <a:p>
            <a:pPr>
              <a:spcAft>
                <a:spcPts val="300"/>
              </a:spcAft>
              <a:defRPr sz="1150">
                <a:solidFill>
                  <a:srgbClr val="F3F4F6"/>
                </a:solidFill>
              </a:defRPr>
            </a:pPr>
          </a:p>
          <a:p>
            <a:pPr>
              <a:spcAft>
                <a:spcPts val="300"/>
              </a:spcAft>
              <a:defRPr sz="1150">
                <a:solidFill>
                  <a:srgbClr val="F3F4F6"/>
                </a:solidFill>
              </a:defRPr>
            </a:pPr>
            <a:r>
              <a:t>Our Solution: Hybrid Attack-Spells</a:t>
            </a:r>
          </a:p>
          <a:p>
            <a:pPr>
              <a:spcAft>
                <a:spcPts val="300"/>
              </a:spcAft>
              <a:defRPr sz="1150">
                <a:solidFill>
                  <a:srgbClr val="F3F4F6"/>
                </a:solidFill>
              </a:defRPr>
            </a:pPr>
            <a:r>
              <a:t>Every spell acts simultaneously! Fireball deals direct damage to the target AND mutates the ground into lava in 1 action. Kinetic Push deals damage AND displaces.</a:t>
            </a:r>
          </a:p>
          <a:p>
            <a:pPr>
              <a:spcAft>
                <a:spcPts val="300"/>
              </a:spcAft>
              <a:defRPr sz="1150">
                <a:solidFill>
                  <a:srgbClr val="F3F4F6"/>
                </a:solidFill>
              </a:defRPr>
            </a:pPr>
          </a:p>
          <a:p>
            <a:pPr>
              <a:spcAft>
                <a:spcPts val="300"/>
              </a:spcAft>
              <a:defRPr sz="1150">
                <a:solidFill>
                  <a:srgbClr val="F3F4F6"/>
                </a:solidFill>
              </a:defRPr>
            </a:pPr>
            <a:r>
              <a:t>Result: Streamlined combat flow where every turn advances the battle.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3: COMPETITOR BENCHMARK</a:t>
            </a:r>
          </a:p>
          <a:p>
            <a:pPr>
              <a:defRPr sz="2400" b="1">
                <a:solidFill>
                  <a:srgbClr val="F3F4F6"/>
                </a:solidFill>
              </a:defRPr>
            </a:pPr>
            <a:r>
              <a:t>Market Opportunity: Competitor Matrix</a:t>
            </a:r>
          </a:p>
        </p:txBody>
      </p:sp>
      <p:sp>
        <p:nvSpPr>
          <p:cNvPr id="3" name="Rounded Rectangle 2"/>
          <p:cNvSpPr/>
          <p:nvPr/>
        </p:nvSpPr>
        <p:spPr>
          <a:xfrm>
            <a:off x="731520" y="1600200"/>
            <a:ext cx="5212080" cy="18288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Brigandine: Runersia (Happinet)</a:t>
            </a:r>
          </a:p>
          <a:p>
            <a:pPr>
              <a:spcAft>
                <a:spcPts val="300"/>
              </a:spcAft>
              <a:defRPr sz="1150">
                <a:solidFill>
                  <a:srgbClr val="F3F4F6"/>
                </a:solidFill>
              </a:defRPr>
            </a:pPr>
            <a:r>
              <a:t>Publisher: Happinet (Very Positive, 1,300+ Steam Reviews)</a:t>
            </a:r>
          </a:p>
          <a:p>
            <a:pPr>
              <a:spcAft>
                <a:spcPts val="300"/>
              </a:spcAft>
              <a:defRPr sz="1150">
                <a:solidFill>
                  <a:srgbClr val="F3F4F6"/>
                </a:solidFill>
              </a:defRPr>
            </a:pPr>
            <a:r>
              <a:t>What Players Love: Deep hex-grid tactics, monster commanding &amp; terrain affinities.</a:t>
            </a:r>
          </a:p>
          <a:p>
            <a:pPr>
              <a:spcAft>
                <a:spcPts val="300"/>
              </a:spcAft>
              <a:defRPr sz="1150">
                <a:solidFill>
                  <a:srgbClr val="F3F4F6"/>
                </a:solidFill>
              </a:defRPr>
            </a:pPr>
            <a:r>
              <a:t>How We Differentiate: Replaces slow 45-min AA battle animations with streamlined tactical skirmishes; transforms passive terrain buffs into Active Terraforming.</a:t>
            </a:r>
          </a:p>
        </p:txBody>
      </p:sp>
      <p:sp>
        <p:nvSpPr>
          <p:cNvPr id="4" name="Rounded Rectangle 3"/>
          <p:cNvSpPr/>
          <p:nvPr/>
        </p:nvSpPr>
        <p:spPr>
          <a:xfrm>
            <a:off x="6217920" y="1600200"/>
            <a:ext cx="5212080" cy="18288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Vanaris Tactics (Toge)</a:t>
            </a:r>
          </a:p>
          <a:p>
            <a:pPr>
              <a:spcAft>
                <a:spcPts val="300"/>
              </a:spcAft>
              <a:defRPr sz="1150">
                <a:solidFill>
                  <a:srgbClr val="F3F4F6"/>
                </a:solidFill>
              </a:defRPr>
            </a:pPr>
            <a:r>
              <a:t>Publisher: Toge Productions (Beloved Retro Tactics)</a:t>
            </a:r>
          </a:p>
          <a:p>
            <a:pPr>
              <a:spcAft>
                <a:spcPts val="300"/>
              </a:spcAft>
              <a:defRPr sz="1150">
                <a:solidFill>
                  <a:srgbClr val="F3F4F6"/>
                </a:solidFill>
              </a:defRPr>
            </a:pPr>
            <a:r>
              <a:t>What Players Love: Classic retro FFT charm, beloved pixel art storytelling.</a:t>
            </a:r>
          </a:p>
          <a:p>
            <a:pPr>
              <a:spcAft>
                <a:spcPts val="300"/>
              </a:spcAft>
              <a:defRPr sz="1150">
                <a:solidFill>
                  <a:srgbClr val="F3F4F6"/>
                </a:solidFill>
              </a:defRPr>
            </a:pPr>
            <a:r>
              <a:t>How We Differentiate: Adds 3D multi-level hex elevations, kinetic shove impact physics, and real-time elemental landscape destruction.</a:t>
            </a:r>
          </a:p>
        </p:txBody>
      </p:sp>
      <p:sp>
        <p:nvSpPr>
          <p:cNvPr id="5" name="Rounded Rectangle 4"/>
          <p:cNvSpPr/>
          <p:nvPr/>
        </p:nvSpPr>
        <p:spPr>
          <a:xfrm>
            <a:off x="731520" y="3566160"/>
            <a:ext cx="5212080" cy="182880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Into the Breach (Subset)</a:t>
            </a:r>
          </a:p>
          <a:p>
            <a:pPr>
              <a:spcAft>
                <a:spcPts val="300"/>
              </a:spcAft>
              <a:defRPr sz="1150">
                <a:solidFill>
                  <a:srgbClr val="F3F4F6"/>
                </a:solidFill>
              </a:defRPr>
            </a:pPr>
            <a:r>
              <a:t>Publisher: Subset Games (Overwhelmingly Positive)</a:t>
            </a:r>
          </a:p>
          <a:p>
            <a:pPr>
              <a:spcAft>
                <a:spcPts val="300"/>
              </a:spcAft>
              <a:defRPr sz="1150">
                <a:solidFill>
                  <a:srgbClr val="F3F4F6"/>
                </a:solidFill>
              </a:defRPr>
            </a:pPr>
            <a:r>
              <a:t>What Players Love: Masterpiece of kinetic knockback puzzles.</a:t>
            </a:r>
          </a:p>
          <a:p>
            <a:pPr>
              <a:spcAft>
                <a:spcPts val="300"/>
              </a:spcAft>
              <a:defRPr sz="1150">
                <a:solidFill>
                  <a:srgbClr val="F3F4F6"/>
                </a:solidFill>
              </a:defRPr>
            </a:pPr>
            <a:r>
              <a:t>How We Differentiate: Marries push puzzles with fantasy RPG squad progression, elevation tiers, and land siphoning for Titan cataclysms.</a:t>
            </a:r>
          </a:p>
        </p:txBody>
      </p:sp>
      <p:sp>
        <p:nvSpPr>
          <p:cNvPr id="6" name="Rounded Rectangle 5"/>
          <p:cNvSpPr/>
          <p:nvPr/>
        </p:nvSpPr>
        <p:spPr>
          <a:xfrm>
            <a:off x="6217920" y="3566160"/>
            <a:ext cx="5212080" cy="18288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Triangle Strategy (Square Enix)</a:t>
            </a:r>
          </a:p>
          <a:p>
            <a:pPr>
              <a:spcAft>
                <a:spcPts val="300"/>
              </a:spcAft>
              <a:defRPr sz="1150">
                <a:solidFill>
                  <a:srgbClr val="F3F4F6"/>
                </a:solidFill>
              </a:defRPr>
            </a:pPr>
            <a:r>
              <a:t>Publisher: Square Enix (HD-2D Tactical RPG)</a:t>
            </a:r>
          </a:p>
          <a:p>
            <a:pPr>
              <a:spcAft>
                <a:spcPts val="300"/>
              </a:spcAft>
              <a:defRPr sz="1150">
                <a:solidFill>
                  <a:srgbClr val="F3F4F6"/>
                </a:solidFill>
              </a:defRPr>
            </a:pPr>
            <a:r>
              <a:t>What Players Love: Modern HD-2D presentation &amp; elemental interactions.</a:t>
            </a:r>
          </a:p>
          <a:p>
            <a:pPr>
              <a:spcAft>
                <a:spcPts val="300"/>
              </a:spcAft>
              <a:defRPr sz="1150">
                <a:solidFill>
                  <a:srgbClr val="F3F4F6"/>
                </a:solidFill>
              </a:defRPr>
            </a:pPr>
            <a:r>
              <a:t>How We Differentiate: Streamlined tactical flow designed for modern indie players with zero level-grinding and deeper terrain chemistry.</a:t>
            </a:r>
          </a:p>
        </p:txBody>
      </p:sp>
      <p:sp>
        <p:nvSpPr>
          <p:cNvPr id="7" name="Rounded Rectangle 6"/>
          <p:cNvSpPr/>
          <p:nvPr/>
        </p:nvSpPr>
        <p:spPr>
          <a:xfrm>
            <a:off x="731520" y="5532120"/>
            <a:ext cx="10698480" cy="77724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The Market Opportunity</a:t>
            </a:r>
          </a:p>
          <a:p>
            <a:pPr>
              <a:spcAft>
                <a:spcPts val="300"/>
              </a:spcAft>
              <a:defRPr sz="1150">
                <a:solidFill>
                  <a:srgbClr val="F3F4F6"/>
                </a:solidFill>
              </a:defRPr>
            </a:pPr>
            <a:r>
              <a:t>Players love Brigandine's hex-grid monster fantasy and Into the Breach's puzzle clarity—Elemental Hex Tactics marries both into streamlined, deliberate HD-2D matches with active terraforming.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4: GAME FLOW &amp; CORE LOOP</a:t>
            </a:r>
          </a:p>
          <a:p>
            <a:pPr>
              <a:defRPr sz="2400" b="1">
                <a:solidFill>
                  <a:srgbClr val="F3F4F6"/>
                </a:solidFill>
              </a:defRPr>
            </a:pPr>
            <a:r>
              <a:t>Product &amp; Solution: The Ecosystem of War</a:t>
            </a:r>
          </a:p>
        </p:txBody>
      </p:sp>
      <p:sp>
        <p:nvSpPr>
          <p:cNvPr id="3" name="Rounded Rectangle 2"/>
          <p:cNvSpPr/>
          <p:nvPr/>
        </p:nvSpPr>
        <p:spPr>
          <a:xfrm>
            <a:off x="731520" y="1645920"/>
            <a:ext cx="10698480" cy="77724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THE 3-STEP TACTICAL LOOP</a:t>
            </a:r>
          </a:p>
          <a:p>
            <a:pPr>
              <a:spcAft>
                <a:spcPts val="300"/>
              </a:spcAft>
              <a:defRPr sz="1150">
                <a:solidFill>
                  <a:srgbClr val="F3F4F6"/>
                </a:solidFill>
              </a:defRPr>
            </a:pPr>
            <a:r>
              <a:t>1. Master Infuses (Terraform)   ➔   2. Monster Attunes (Adapt)   ➔   3. Monster Consumes (Unleash)</a:t>
            </a:r>
          </a:p>
        </p:txBody>
      </p:sp>
      <p:sp>
        <p:nvSpPr>
          <p:cNvPr id="4" name="Rounded Rectangle 3"/>
          <p:cNvSpPr/>
          <p:nvPr/>
        </p:nvSpPr>
        <p:spPr>
          <a:xfrm>
            <a:off x="731520" y="2651760"/>
            <a:ext cx="3383280" cy="25603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Master Infuses (Terraform)</a:t>
            </a:r>
          </a:p>
          <a:p>
            <a:pPr>
              <a:spcAft>
                <a:spcPts val="300"/>
              </a:spcAft>
              <a:defRPr sz="1150">
                <a:solidFill>
                  <a:srgbClr val="F3F4F6"/>
                </a:solidFill>
              </a:defRPr>
            </a:pPr>
            <a:r>
              <a:t>Human Masters reshape the battlefield with magic.</a:t>
            </a:r>
          </a:p>
          <a:p>
            <a:pPr>
              <a:spcAft>
                <a:spcPts val="300"/>
              </a:spcAft>
              <a:defRPr sz="1150">
                <a:solidFill>
                  <a:srgbClr val="F3F4F6"/>
                </a:solidFill>
              </a:defRPr>
            </a:pPr>
          </a:p>
          <a:p>
            <a:pPr>
              <a:spcAft>
                <a:spcPts val="300"/>
              </a:spcAft>
              <a:defRPr sz="1150">
                <a:solidFill>
                  <a:srgbClr val="F3F4F6"/>
                </a:solidFill>
              </a:defRPr>
            </a:pPr>
            <a:r>
              <a:t>Fireballs scorch grass into molten lava moats; water blasts douse flames and create concealing steam clouds.</a:t>
            </a:r>
          </a:p>
        </p:txBody>
      </p:sp>
      <p:sp>
        <p:nvSpPr>
          <p:cNvPr id="5" name="Rounded Rectangle 4"/>
          <p:cNvSpPr/>
          <p:nvPr/>
        </p:nvSpPr>
        <p:spPr>
          <a:xfrm>
            <a:off x="4389120" y="2651760"/>
            <a:ext cx="3383280" cy="25603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2. Monster Attunes (Adapt)</a:t>
            </a:r>
          </a:p>
          <a:p>
            <a:pPr>
              <a:spcAft>
                <a:spcPts val="300"/>
              </a:spcAft>
              <a:defRPr sz="1150">
                <a:solidFill>
                  <a:srgbClr val="F3F4F6"/>
                </a:solidFill>
              </a:defRPr>
            </a:pPr>
            <a:r>
              <a:t>Allied Monsters thrive in their native elements.</a:t>
            </a:r>
          </a:p>
          <a:p>
            <a:pPr>
              <a:spcAft>
                <a:spcPts val="300"/>
              </a:spcAft>
              <a:defRPr sz="1150">
                <a:solidFill>
                  <a:srgbClr val="F3F4F6"/>
                </a:solidFill>
              </a:defRPr>
            </a:pPr>
          </a:p>
          <a:p>
            <a:pPr>
              <a:spcAft>
                <a:spcPts val="300"/>
              </a:spcAft>
              <a:defRPr sz="1150">
                <a:solidFill>
                  <a:srgbClr val="F3F4F6"/>
                </a:solidFill>
              </a:defRPr>
            </a:pPr>
            <a:r>
              <a:t>Standing on lava grants fire beasts +2 ATK and complete burn immunity. Positioning monsters on matching tiles is key.</a:t>
            </a:r>
          </a:p>
        </p:txBody>
      </p:sp>
      <p:sp>
        <p:nvSpPr>
          <p:cNvPr id="6" name="Rounded Rectangle 5"/>
          <p:cNvSpPr/>
          <p:nvPr/>
        </p:nvSpPr>
        <p:spPr>
          <a:xfrm>
            <a:off x="8046720" y="2651760"/>
            <a:ext cx="3383280" cy="2560320"/>
          </a:xfrm>
          <a:prstGeom prst="roundRect">
            <a:avLst/>
          </a:prstGeom>
          <a:solidFill>
            <a:srgbClr val="161B2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EF4444"/>
                </a:solidFill>
              </a:defRPr>
            </a:pPr>
            <a:r>
              <a:t>⚡ 3. Monster Consumes (Unleash)</a:t>
            </a:r>
          </a:p>
          <a:p>
            <a:pPr>
              <a:spcAft>
                <a:spcPts val="300"/>
              </a:spcAft>
              <a:defRPr sz="1150">
                <a:solidFill>
                  <a:srgbClr val="F3F4F6"/>
                </a:solidFill>
              </a:defRPr>
            </a:pPr>
            <a:r>
              <a:t>Titans siphon active lava or water, mutating the land into Barren Earth.</a:t>
            </a:r>
          </a:p>
          <a:p>
            <a:pPr>
              <a:spcAft>
                <a:spcPts val="300"/>
              </a:spcAft>
              <a:defRPr sz="1150">
                <a:solidFill>
                  <a:srgbClr val="F3F4F6"/>
                </a:solidFill>
              </a:defRPr>
            </a:pPr>
          </a:p>
          <a:p>
            <a:pPr>
              <a:spcAft>
                <a:spcPts val="300"/>
              </a:spcAft>
              <a:defRPr sz="1150">
                <a:solidFill>
                  <a:srgbClr val="F3F4F6"/>
                </a:solidFill>
              </a:defRPr>
            </a:pPr>
            <a:r>
              <a:t>Harvesting land generates Elemental Cores to trigger room-clearing ultimate Cataclysms.</a:t>
            </a:r>
          </a:p>
        </p:txBody>
      </p:sp>
      <p:sp>
        <p:nvSpPr>
          <p:cNvPr id="7" name="Rounded Rectangle 6"/>
          <p:cNvSpPr/>
          <p:nvPr/>
        </p:nvSpPr>
        <p:spPr>
          <a:xfrm>
            <a:off x="731520" y="5440680"/>
            <a:ext cx="1069848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Master &amp; Monster Dual-Command</a:t>
            </a:r>
          </a:p>
          <a:p>
            <a:pPr>
              <a:spcAft>
                <a:spcPts val="300"/>
              </a:spcAft>
              <a:defRPr sz="1150">
                <a:solidFill>
                  <a:srgbClr val="F3F4F6"/>
                </a:solidFill>
              </a:defRPr>
            </a:pPr>
            <a:r>
              <a:t>The Master sculpts the space and knocks enemies into traps; the Monster holds the frontline, thrives in the hazards, and consumes the land for decisive finishers.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4: DESIGN PILLARS &amp; ARCHETYPES</a:t>
            </a:r>
          </a:p>
          <a:p>
            <a:pPr>
              <a:defRPr sz="2400" b="1">
                <a:solidFill>
                  <a:srgbClr val="F3F4F6"/>
                </a:solidFill>
              </a:defRPr>
            </a:pPr>
            <a:r>
              <a:t>Product &amp; Solution: Unit Asymmetry &amp; Pillars</a:t>
            </a:r>
          </a:p>
        </p:txBody>
      </p:sp>
      <p:sp>
        <p:nvSpPr>
          <p:cNvPr id="3" name="Rounded Rectangle 2"/>
          <p:cNvSpPr/>
          <p:nvPr/>
        </p:nvSpPr>
        <p:spPr>
          <a:xfrm>
            <a:off x="731520" y="1645920"/>
            <a:ext cx="5212080" cy="22402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Human Masters (The Shapers)</a:t>
            </a:r>
          </a:p>
          <a:p>
            <a:pPr>
              <a:spcAft>
                <a:spcPts val="300"/>
              </a:spcAft>
              <a:defRPr sz="1150">
                <a:solidFill>
                  <a:srgbClr val="F3F4F6"/>
                </a:solidFill>
              </a:defRPr>
            </a:pPr>
            <a:r>
              <a:t>ROLE: Spatial Manipulator (Low HP, High Mobility, Map Shaper)</a:t>
            </a:r>
          </a:p>
          <a:p>
            <a:pPr>
              <a:spcAft>
                <a:spcPts val="300"/>
              </a:spcAft>
              <a:defRPr sz="1150">
                <a:solidFill>
                  <a:srgbClr val="F3F4F6"/>
                </a:solidFill>
              </a:defRPr>
            </a:pPr>
          </a:p>
          <a:p>
            <a:pPr>
              <a:spcAft>
                <a:spcPts val="300"/>
              </a:spcAft>
              <a:defRPr sz="1150">
                <a:solidFill>
                  <a:srgbClr val="F3F4F6"/>
                </a:solidFill>
              </a:defRPr>
            </a:pPr>
            <a:r>
              <a:t>Player-controlled caster. Squishy but agile. Casts ranged Fireballs, Water Surges, and Kinetic Pushes to reshape terrain and manipulate enemy positioning.</a:t>
            </a:r>
          </a:p>
        </p:txBody>
      </p:sp>
      <p:sp>
        <p:nvSpPr>
          <p:cNvPr id="4" name="Rounded Rectangle 3"/>
          <p:cNvSpPr/>
          <p:nvPr/>
        </p:nvSpPr>
        <p:spPr>
          <a:xfrm>
            <a:off x="6217920" y="1645920"/>
            <a:ext cx="5212080" cy="2240280"/>
          </a:xfrm>
          <a:prstGeom prst="roundRect">
            <a:avLst/>
          </a:prstGeom>
          <a:solidFill>
            <a:srgbClr val="161B2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EF4444"/>
                </a:solidFill>
              </a:defRPr>
            </a:pPr>
            <a:r>
              <a:t>🐉 Allied Monsters (The Titans)</a:t>
            </a:r>
          </a:p>
          <a:p>
            <a:pPr>
              <a:spcAft>
                <a:spcPts val="300"/>
              </a:spcAft>
              <a:defRPr sz="1150">
                <a:solidFill>
                  <a:srgbClr val="F3F4F6"/>
                </a:solidFill>
              </a:defRPr>
            </a:pPr>
            <a:r>
              <a:t>ROLE: Frontline Anchor (Colossal 14 HP, Hazard-Immune)</a:t>
            </a:r>
          </a:p>
          <a:p>
            <a:pPr>
              <a:spcAft>
                <a:spcPts val="300"/>
              </a:spcAft>
              <a:defRPr sz="1150">
                <a:solidFill>
                  <a:srgbClr val="F3F4F6"/>
                </a:solidFill>
              </a:defRPr>
            </a:pPr>
          </a:p>
          <a:p>
            <a:pPr>
              <a:spcAft>
                <a:spcPts val="300"/>
              </a:spcAft>
              <a:defRPr sz="1150">
                <a:solidFill>
                  <a:srgbClr val="F3F4F6"/>
                </a:solidFill>
              </a:defRPr>
            </a:pPr>
            <a:r>
              <a:t>Player-controlled behemoth. Naturally immune to molten lava, holds down the frontline with heavy melee strikes, and harvests land to trigger Magma Cataclysms.</a:t>
            </a:r>
          </a:p>
        </p:txBody>
      </p:sp>
      <p:sp>
        <p:nvSpPr>
          <p:cNvPr id="5" name="Rounded Rectangle 4"/>
          <p:cNvSpPr/>
          <p:nvPr/>
        </p:nvSpPr>
        <p:spPr>
          <a:xfrm>
            <a:off x="731520" y="4160520"/>
            <a:ext cx="5212080" cy="210312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Dracomancers (Enemy Rival Masters)</a:t>
            </a:r>
          </a:p>
          <a:p>
            <a:pPr>
              <a:spcAft>
                <a:spcPts val="300"/>
              </a:spcAft>
              <a:defRPr sz="1150">
                <a:solidFill>
                  <a:srgbClr val="F3F4F6"/>
                </a:solidFill>
              </a:defRPr>
            </a:pPr>
            <a:r>
              <a:t>ROLE: Tactical Rival Pyromancer</a:t>
            </a:r>
          </a:p>
          <a:p>
            <a:pPr>
              <a:spcAft>
                <a:spcPts val="300"/>
              </a:spcAft>
              <a:defRPr sz="1150">
                <a:solidFill>
                  <a:srgbClr val="F3F4F6"/>
                </a:solidFill>
              </a:defRPr>
            </a:pPr>
          </a:p>
          <a:p>
            <a:pPr>
              <a:spcAft>
                <a:spcPts val="300"/>
              </a:spcAft>
              <a:defRPr sz="1150">
                <a:solidFill>
                  <a:srgbClr val="F3F4F6"/>
                </a:solidFill>
              </a:defRPr>
            </a:pPr>
            <a:r>
              <a:t>Commands enemy squads, casts long-range fire spells, and uses kinetic knockbacks to shove player units off high ground into hazards.</a:t>
            </a:r>
          </a:p>
        </p:txBody>
      </p:sp>
      <p:sp>
        <p:nvSpPr>
          <p:cNvPr id="6" name="Rounded Rectangle 5"/>
          <p:cNvSpPr/>
          <p:nvPr/>
        </p:nvSpPr>
        <p:spPr>
          <a:xfrm>
            <a:off x="6217920" y="4160520"/>
            <a:ext cx="5212080" cy="21031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Demon Slimes (Aggressive Minions)</a:t>
            </a:r>
          </a:p>
          <a:p>
            <a:pPr>
              <a:spcAft>
                <a:spcPts val="300"/>
              </a:spcAft>
              <a:defRPr sz="1150">
                <a:solidFill>
                  <a:srgbClr val="F3F4F6"/>
                </a:solidFill>
              </a:defRPr>
            </a:pPr>
            <a:r>
              <a:t>ROLE: Fast Flanking Melee Minions</a:t>
            </a:r>
          </a:p>
          <a:p>
            <a:pPr>
              <a:spcAft>
                <a:spcPts val="300"/>
              </a:spcAft>
              <a:defRPr sz="1150">
                <a:solidFill>
                  <a:srgbClr val="F3F4F6"/>
                </a:solidFill>
              </a:defRPr>
            </a:pPr>
          </a:p>
          <a:p>
            <a:pPr>
              <a:spcAft>
                <a:spcPts val="300"/>
              </a:spcAft>
              <a:defRPr sz="1150">
                <a:solidFill>
                  <a:srgbClr val="F3F4F6"/>
                </a:solidFill>
              </a:defRPr>
            </a:pPr>
            <a:r>
              <a:t>Aggressive swarmers that navigate around hazards to flank your Master and attempt to knock him off elevated plateaus.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4: PROOF OF CONCEPT &amp; VALIDATION</a:t>
            </a:r>
          </a:p>
          <a:p>
            <a:pPr>
              <a:defRPr sz="2400" b="1">
                <a:solidFill>
                  <a:srgbClr val="F3F4F6"/>
                </a:solidFill>
              </a:defRPr>
            </a:pPr>
            <a:r>
              <a:t>Product &amp; Solution: Verified Vertical Slice</a:t>
            </a:r>
          </a:p>
        </p:txBody>
      </p:sp>
      <p:sp>
        <p:nvSpPr>
          <p:cNvPr id="3" name="Rounded Rectangle 2"/>
          <p:cNvSpPr/>
          <p:nvPr/>
        </p:nvSpPr>
        <p:spPr>
          <a:xfrm>
            <a:off x="731520" y="1645920"/>
            <a:ext cx="5486400" cy="356616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Fully Working 2v2 Skirmish in Unity 6</a:t>
            </a:r>
          </a:p>
          <a:p>
            <a:pPr>
              <a:spcAft>
                <a:spcPts val="300"/>
              </a:spcAft>
              <a:defRPr sz="1150">
                <a:solidFill>
                  <a:srgbClr val="F3F4F6"/>
                </a:solidFill>
              </a:defRPr>
            </a:pPr>
            <a:r>
              <a:t>• Focused 2v2 prototype (Master + Titan vs Boss + Minion)</a:t>
            </a:r>
          </a:p>
          <a:p>
            <a:pPr>
              <a:spcAft>
                <a:spcPts val="300"/>
              </a:spcAft>
              <a:defRPr sz="1150">
                <a:solidFill>
                  <a:srgbClr val="F3F4F6"/>
                </a:solidFill>
              </a:defRPr>
            </a:pPr>
            <a:r>
              <a:t>• 3D procedural hex grid with multi-level cliff elevations</a:t>
            </a:r>
          </a:p>
          <a:p>
            <a:pPr>
              <a:spcAft>
                <a:spcPts val="300"/>
              </a:spcAft>
              <a:defRPr sz="1150">
                <a:solidFill>
                  <a:srgbClr val="F3F4F6"/>
                </a:solidFill>
              </a:defRPr>
            </a:pPr>
            <a:r>
              <a:t>• Kinetic shove physics with wall-impact damage &amp; lava burns</a:t>
            </a:r>
          </a:p>
          <a:p>
            <a:pPr>
              <a:spcAft>
                <a:spcPts val="300"/>
              </a:spcAft>
              <a:defRPr sz="1150">
                <a:solidFill>
                  <a:srgbClr val="F3F4F6"/>
                </a:solidFill>
              </a:defRPr>
            </a:pPr>
            <a:r>
              <a:t>• Continuous turn-based hazard burn ticks</a:t>
            </a:r>
          </a:p>
          <a:p>
            <a:pPr>
              <a:spcAft>
                <a:spcPts val="300"/>
              </a:spcAft>
              <a:defRPr sz="1150">
                <a:solidFill>
                  <a:srgbClr val="F3F4F6"/>
                </a:solidFill>
              </a:defRPr>
            </a:pPr>
            <a:r>
              <a:t>• Terrain attunement (Flame Surge buffs &amp; immunities)</a:t>
            </a:r>
          </a:p>
          <a:p>
            <a:pPr>
              <a:spcAft>
                <a:spcPts val="300"/>
              </a:spcAft>
              <a:defRPr sz="1150">
                <a:solidFill>
                  <a:srgbClr val="F3F4F6"/>
                </a:solidFill>
              </a:defRPr>
            </a:pPr>
            <a:r>
              <a:t>• Land siphoning turning active terrain into Barren Earth</a:t>
            </a:r>
          </a:p>
          <a:p>
            <a:pPr>
              <a:spcAft>
                <a:spcPts val="300"/>
              </a:spcAft>
              <a:defRPr sz="1150">
                <a:solidFill>
                  <a:srgbClr val="F3F4F6"/>
                </a:solidFill>
              </a:defRPr>
            </a:pPr>
            <a:r>
              <a:t>• Titan Magma Cataclysm with camera screen shake trauma</a:t>
            </a:r>
          </a:p>
          <a:p>
            <a:pPr>
              <a:spcAft>
                <a:spcPts val="300"/>
              </a:spcAft>
              <a:defRPr sz="1150">
                <a:solidFill>
                  <a:srgbClr val="F3F4F6"/>
                </a:solidFill>
              </a:defRPr>
            </a:pPr>
            <a:r>
              <a:t>• Zero-dependency procedural audio engine with mute toggle</a:t>
            </a:r>
          </a:p>
        </p:txBody>
      </p:sp>
      <p:sp>
        <p:nvSpPr>
          <p:cNvPr id="4" name="Rounded Rectangle 3"/>
          <p:cNvSpPr/>
          <p:nvPr/>
        </p:nvSpPr>
        <p:spPr>
          <a:xfrm>
            <a:off x="731520" y="5440680"/>
            <a:ext cx="548640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The 30-Second Combat Sequence</a:t>
            </a:r>
          </a:p>
          <a:p>
            <a:pPr>
              <a:spcAft>
                <a:spcPts val="300"/>
              </a:spcAft>
              <a:defRPr sz="1150">
                <a:solidFill>
                  <a:srgbClr val="F3F4F6"/>
                </a:solidFill>
              </a:defRPr>
            </a:pPr>
            <a:r>
              <a:t>Master casts Fireball ➔ Shove slams enemy into rock ➔ Dragon siphons lava (+1 Core) ➔ Magma Cataclysm wipes the board!</a:t>
            </a:r>
          </a:p>
        </p:txBody>
      </p:sp>
      <p:pic>
        <p:nvPicPr>
          <p:cNvPr id="5" name="Picture 4" descr="gameplay_victory.png"/>
          <p:cNvPicPr>
            <a:picLocks noChangeAspect="1"/>
          </p:cNvPicPr>
          <p:nvPr/>
        </p:nvPicPr>
        <p:blipFill>
          <a:blip r:embed="rId2"/>
          <a:stretch>
            <a:fillRect/>
          </a:stretch>
        </p:blipFill>
        <p:spPr>
          <a:xfrm>
            <a:off x="6492240" y="1645920"/>
            <a:ext cx="4937760" cy="307027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4: ART STYLE &amp; VISUAL BENCHMARK</a:t>
            </a:r>
          </a:p>
          <a:p>
            <a:pPr>
              <a:defRPr sz="2400" b="1">
                <a:solidFill>
                  <a:srgbClr val="F3F4F6"/>
                </a:solidFill>
              </a:defRPr>
            </a:pPr>
            <a:r>
              <a:t>Product &amp; Solution: HD-2D Visual Target &amp; Pipeline</a:t>
            </a:r>
          </a:p>
        </p:txBody>
      </p:sp>
      <p:sp>
        <p:nvSpPr>
          <p:cNvPr id="3" name="Rounded Rectangle 2"/>
          <p:cNvSpPr/>
          <p:nvPr/>
        </p:nvSpPr>
        <p:spPr>
          <a:xfrm>
            <a:off x="731520" y="1645920"/>
            <a:ext cx="5303520" cy="22402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Visual Target: HD-2D Aesthetic</a:t>
            </a:r>
          </a:p>
          <a:p>
            <a:pPr>
              <a:spcAft>
                <a:spcPts val="300"/>
              </a:spcAft>
              <a:defRPr sz="1150">
                <a:solidFill>
                  <a:srgbClr val="F3F4F6"/>
                </a:solidFill>
              </a:defRPr>
            </a:pPr>
            <a:r>
              <a:t>• Atmosphere &amp; Lighting: Triangle Strategy tilt-shift depth-of-field, dynamic real-time shadows, and glowing emissive lava veins in Unity 6.</a:t>
            </a:r>
          </a:p>
          <a:p>
            <a:pPr>
              <a:spcAft>
                <a:spcPts val="300"/>
              </a:spcAft>
              <a:defRPr sz="1150">
                <a:solidFill>
                  <a:srgbClr val="F3F4F6"/>
                </a:solidFill>
              </a:defRPr>
            </a:pPr>
            <a:r>
              <a:t>• Silhouettes: Final Fantasy Tactics / Tactics Ogre standees.</a:t>
            </a:r>
          </a:p>
          <a:p>
            <a:pPr>
              <a:spcAft>
                <a:spcPts val="300"/>
              </a:spcAft>
              <a:defRPr sz="1150">
                <a:solidFill>
                  <a:srgbClr val="F3F4F6"/>
                </a:solidFill>
              </a:defRPr>
            </a:pPr>
            <a:r>
              <a:t>• Palette: Vanaris Tactics rich fantasy environmental tones.</a:t>
            </a:r>
          </a:p>
        </p:txBody>
      </p:sp>
      <p:sp>
        <p:nvSpPr>
          <p:cNvPr id="4" name="Rounded Rectangle 3"/>
          <p:cNvSpPr/>
          <p:nvPr/>
        </p:nvSpPr>
        <p:spPr>
          <a:xfrm>
            <a:off x="731520" y="4160520"/>
            <a:ext cx="5303520" cy="210312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Sprite Animation Framework (Lean &amp; Viable)</a:t>
            </a:r>
          </a:p>
          <a:p>
            <a:pPr>
              <a:spcAft>
                <a:spcPts val="300"/>
              </a:spcAft>
              <a:defRPr sz="1150">
                <a:solidFill>
                  <a:srgbClr val="F3F4F6"/>
                </a:solidFill>
              </a:defRPr>
            </a:pPr>
            <a:r>
              <a:t>• Format: 2-Directional Isometric Standees (Front &amp; Back-Quarter, like Disgaea &amp; Ragnarok Online).</a:t>
            </a:r>
          </a:p>
          <a:p>
            <a:pPr>
              <a:spcAft>
                <a:spcPts val="300"/>
              </a:spcAft>
              <a:defRPr sz="1150">
                <a:solidFill>
                  <a:srgbClr val="F3F4F6"/>
                </a:solidFill>
              </a:defRPr>
            </a:pPr>
            <a:r>
              <a:t>• Snappy Retro Loops: 3-frame combat loops (Idle, Hop, Attack, Hurt).</a:t>
            </a:r>
          </a:p>
          <a:p>
            <a:pPr>
              <a:spcAft>
                <a:spcPts val="300"/>
              </a:spcAft>
              <a:defRPr sz="1150">
                <a:solidFill>
                  <a:srgbClr val="F3F4F6"/>
                </a:solidFill>
              </a:defRPr>
            </a:pPr>
            <a:r>
              <a:t>• Mathematical Sanity: 6 classes x 2 dirs x 10 keyframes = ~120 frames total. Highly viable for $1,200 ($200/class).</a:t>
            </a:r>
          </a:p>
        </p:txBody>
      </p:sp>
      <p:pic>
        <p:nvPicPr>
          <p:cNvPr id="5" name="Picture 4" descr="slide9_visual_benchmark.png"/>
          <p:cNvPicPr>
            <a:picLocks noChangeAspect="1"/>
          </p:cNvPicPr>
          <p:nvPr/>
        </p:nvPicPr>
        <p:blipFill>
          <a:blip r:embed="rId2"/>
          <a:stretch>
            <a:fillRect/>
          </a:stretch>
        </p:blipFill>
        <p:spPr>
          <a:xfrm>
            <a:off x="6400800" y="1463040"/>
            <a:ext cx="4214191" cy="48463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4: META STRUCTURE &amp; REPLAYABILITY</a:t>
            </a:r>
          </a:p>
          <a:p>
            <a:pPr>
              <a:defRPr sz="2400" b="1">
                <a:solidFill>
                  <a:srgbClr val="F3F4F6"/>
                </a:solidFill>
              </a:defRPr>
            </a:pPr>
            <a:r>
              <a:t>Product &amp; Solution: Campaign &amp; Progression</a:t>
            </a:r>
          </a:p>
        </p:txBody>
      </p:sp>
      <p:sp>
        <p:nvSpPr>
          <p:cNvPr id="3" name="Rounded Rectangle 2"/>
          <p:cNvSpPr/>
          <p:nvPr/>
        </p:nvSpPr>
        <p:spPr>
          <a:xfrm>
            <a:off x="7315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Node-Based Map</a:t>
            </a:r>
          </a:p>
          <a:p>
            <a:pPr>
              <a:spcAft>
                <a:spcPts val="300"/>
              </a:spcAft>
              <a:defRPr sz="1150">
                <a:solidFill>
                  <a:srgbClr val="F3F4F6"/>
                </a:solidFill>
              </a:defRPr>
            </a:pPr>
            <a:r>
              <a:t>Branching expedition map inspired by Slay the Spire and Brigandine.</a:t>
            </a:r>
          </a:p>
          <a:p>
            <a:pPr>
              <a:spcAft>
                <a:spcPts val="300"/>
              </a:spcAft>
              <a:defRPr sz="1150">
                <a:solidFill>
                  <a:srgbClr val="F3F4F6"/>
                </a:solidFill>
              </a:defRPr>
            </a:pPr>
          </a:p>
          <a:p>
            <a:pPr>
              <a:spcAft>
                <a:spcPts val="300"/>
              </a:spcAft>
              <a:defRPr sz="1150">
                <a:solidFill>
                  <a:srgbClr val="F3F4F6"/>
                </a:solidFill>
              </a:defRPr>
            </a:pPr>
            <a:r>
              <a:t>Choose your path through skirmishes, elemental shrines, mystery encounters, and rest camps.</a:t>
            </a:r>
          </a:p>
          <a:p>
            <a:pPr>
              <a:spcAft>
                <a:spcPts val="300"/>
              </a:spcAft>
              <a:defRPr sz="1150">
                <a:solidFill>
                  <a:srgbClr val="F3F4F6"/>
                </a:solidFill>
              </a:defRPr>
            </a:pPr>
          </a:p>
          <a:p>
            <a:pPr>
              <a:spcAft>
                <a:spcPts val="300"/>
              </a:spcAft>
              <a:defRPr sz="1150">
                <a:solidFill>
                  <a:srgbClr val="F3F4F6"/>
                </a:solidFill>
              </a:defRPr>
            </a:pPr>
            <a:r>
              <a:t>Every run presents unique terrain challenges.</a:t>
            </a:r>
          </a:p>
        </p:txBody>
      </p:sp>
      <p:sp>
        <p:nvSpPr>
          <p:cNvPr id="4" name="Rounded Rectangle 3"/>
          <p:cNvSpPr/>
          <p:nvPr/>
        </p:nvSpPr>
        <p:spPr>
          <a:xfrm>
            <a:off x="43891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Spellbooks &amp; Monsters</a:t>
            </a:r>
          </a:p>
          <a:p>
            <a:pPr>
              <a:spcAft>
                <a:spcPts val="300"/>
              </a:spcAft>
              <a:defRPr sz="1150">
                <a:solidFill>
                  <a:srgbClr val="F3F4F6"/>
                </a:solidFill>
              </a:defRPr>
            </a:pPr>
            <a:r>
              <a:t>Unlock new elemental disciplines for your Master (Ice, Lightning, Earth).</a:t>
            </a:r>
          </a:p>
          <a:p>
            <a:pPr>
              <a:spcAft>
                <a:spcPts val="300"/>
              </a:spcAft>
              <a:defRPr sz="1150">
                <a:solidFill>
                  <a:srgbClr val="F3F4F6"/>
                </a:solidFill>
              </a:defRPr>
            </a:pPr>
          </a:p>
          <a:p>
            <a:pPr>
              <a:spcAft>
                <a:spcPts val="300"/>
              </a:spcAft>
              <a:defRPr sz="1150">
                <a:solidFill>
                  <a:srgbClr val="F3F4F6"/>
                </a:solidFill>
              </a:defRPr>
            </a:pPr>
            <a:r>
              <a:t>Hatch, evolve, and attune new Monster cohorts with unique passive immunities and Cataclysm ultimates.</a:t>
            </a:r>
          </a:p>
        </p:txBody>
      </p:sp>
      <p:sp>
        <p:nvSpPr>
          <p:cNvPr id="5" name="Rounded Rectangle 4"/>
          <p:cNvSpPr/>
          <p:nvPr/>
        </p:nvSpPr>
        <p:spPr>
          <a:xfrm>
            <a:off x="80467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Zero-Grind Tactical Depth</a:t>
            </a:r>
          </a:p>
          <a:p>
            <a:pPr>
              <a:spcAft>
                <a:spcPts val="300"/>
              </a:spcAft>
              <a:defRPr sz="1150">
                <a:solidFill>
                  <a:srgbClr val="F3F4F6"/>
                </a:solidFill>
              </a:defRPr>
            </a:pPr>
            <a:r>
              <a:t>No 20-hour stat grinding.</a:t>
            </a:r>
          </a:p>
          <a:p>
            <a:pPr>
              <a:spcAft>
                <a:spcPts val="300"/>
              </a:spcAft>
              <a:defRPr sz="1150">
                <a:solidFill>
                  <a:srgbClr val="F3F4F6"/>
                </a:solidFill>
              </a:defRPr>
            </a:pPr>
          </a:p>
          <a:p>
            <a:pPr>
              <a:spcAft>
                <a:spcPts val="300"/>
              </a:spcAft>
              <a:defRPr sz="1150">
                <a:solidFill>
                  <a:srgbClr val="F3F4F6"/>
                </a:solidFill>
              </a:defRPr>
            </a:pPr>
            <a:r>
              <a:t>Thoughtful, deliberate turn-based tactical battles where success is driven by player skill, positioning, and creative terrain combos—never stat checks.</a:t>
            </a:r>
          </a:p>
        </p:txBody>
      </p:sp>
      <p:sp>
        <p:nvSpPr>
          <p:cNvPr id="6" name="Rounded Rectangle 5"/>
          <p:cNvSpPr/>
          <p:nvPr/>
        </p:nvSpPr>
        <p:spPr>
          <a:xfrm>
            <a:off x="731520" y="5440680"/>
            <a:ext cx="1069848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High Replayability</a:t>
            </a:r>
          </a:p>
          <a:p>
            <a:pPr>
              <a:spcAft>
                <a:spcPts val="300"/>
              </a:spcAft>
              <a:defRPr sz="1150">
                <a:solidFill>
                  <a:srgbClr val="F3F4F6"/>
                </a:solidFill>
              </a:defRPr>
            </a:pPr>
            <a:r>
              <a:t>Procedural encounter routes, emergent environmental chemistry, and diverse Master-Monster squad combinations ensure no two runs feel identical.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5: EXECUTION PLAN, TIMELINE &amp; BUDGET</a:t>
            </a:r>
          </a:p>
          <a:p>
            <a:pPr>
              <a:defRPr sz="2400" b="1">
                <a:solidFill>
                  <a:srgbClr val="F3F4F6"/>
                </a:solidFill>
              </a:defRPr>
            </a:pPr>
            <a:r>
              <a:t>Execution Plan: 6 Months to Steam Demo</a:t>
            </a:r>
          </a:p>
        </p:txBody>
      </p:sp>
      <p:sp>
        <p:nvSpPr>
          <p:cNvPr id="3" name="Rounded Rectangle 2"/>
          <p:cNvSpPr/>
          <p:nvPr/>
        </p:nvSpPr>
        <p:spPr>
          <a:xfrm>
            <a:off x="731520" y="1645920"/>
            <a:ext cx="5212080" cy="21945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1–2: Art Commissions &amp; Sprites</a:t>
            </a:r>
          </a:p>
          <a:p>
            <a:pPr>
              <a:spcAft>
                <a:spcPts val="300"/>
              </a:spcAft>
              <a:defRPr sz="1150">
                <a:solidFill>
                  <a:srgbClr val="F3F4F6"/>
                </a:solidFill>
              </a:defRPr>
            </a:pPr>
            <a:r>
              <a:t>Commission freelance pixel artist for 2-directional animated sprite sheets (6 classes) and character portrait illustrations.</a:t>
            </a:r>
          </a:p>
          <a:p>
            <a:pPr>
              <a:spcAft>
                <a:spcPts val="300"/>
              </a:spcAft>
              <a:defRPr sz="1150">
                <a:solidFill>
                  <a:srgbClr val="F3F4F6"/>
                </a:solidFill>
              </a:defRPr>
            </a:pPr>
          </a:p>
          <a:p>
            <a:pPr>
              <a:spcAft>
                <a:spcPts val="300"/>
              </a:spcAft>
              <a:defRPr sz="1150">
                <a:solidFill>
                  <a:srgbClr val="F3F4F6"/>
                </a:solidFill>
              </a:defRPr>
            </a:pPr>
            <a:r>
              <a:t>Implement sprite animation state controller.</a:t>
            </a:r>
          </a:p>
        </p:txBody>
      </p:sp>
      <p:sp>
        <p:nvSpPr>
          <p:cNvPr id="4" name="Rounded Rectangle 3"/>
          <p:cNvSpPr/>
          <p:nvPr/>
        </p:nvSpPr>
        <p:spPr>
          <a:xfrm>
            <a:off x="6217920" y="1645920"/>
            <a:ext cx="5212080" cy="21945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3: New Biomes &amp; Mechanics</a:t>
            </a:r>
          </a:p>
          <a:p>
            <a:pPr>
              <a:spcAft>
                <a:spcPts val="300"/>
              </a:spcAft>
              <a:defRPr sz="1150">
                <a:solidFill>
                  <a:srgbClr val="F3F4F6"/>
                </a:solidFill>
              </a:defRPr>
            </a:pPr>
            <a:r>
              <a:t>Implement Glacial Peak (ice slide shove physics) and Conductive Marsh (water + lightning chain electrocution).</a:t>
            </a:r>
          </a:p>
          <a:p>
            <a:pPr>
              <a:spcAft>
                <a:spcPts val="300"/>
              </a:spcAft>
              <a:defRPr sz="1150">
                <a:solidFill>
                  <a:srgbClr val="F3F4F6"/>
                </a:solidFill>
              </a:defRPr>
            </a:pPr>
          </a:p>
          <a:p>
            <a:pPr>
              <a:spcAft>
                <a:spcPts val="300"/>
              </a:spcAft>
              <a:defRPr sz="1150">
                <a:solidFill>
                  <a:srgbClr val="F3F4F6"/>
                </a:solidFill>
              </a:defRPr>
            </a:pPr>
            <a:r>
              <a:t>Expand elemental interactions matrix.</a:t>
            </a:r>
          </a:p>
        </p:txBody>
      </p:sp>
      <p:sp>
        <p:nvSpPr>
          <p:cNvPr id="5" name="Rounded Rectangle 4"/>
          <p:cNvSpPr/>
          <p:nvPr/>
        </p:nvSpPr>
        <p:spPr>
          <a:xfrm>
            <a:off x="731520" y="4069080"/>
            <a:ext cx="5212080" cy="20116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4: Campaign Map &amp; Smart AI</a:t>
            </a:r>
          </a:p>
          <a:p>
            <a:pPr>
              <a:spcAft>
                <a:spcPts val="300"/>
              </a:spcAft>
              <a:defRPr sz="1150">
                <a:solidFill>
                  <a:srgbClr val="F3F4F6"/>
                </a:solidFill>
              </a:defRPr>
            </a:pPr>
            <a:r>
              <a:t>Build node-based world map progression and enhance enemy AI (flanking, hazard evasion, and tactical retreating).</a:t>
            </a:r>
          </a:p>
          <a:p>
            <a:pPr>
              <a:spcAft>
                <a:spcPts val="300"/>
              </a:spcAft>
              <a:defRPr sz="1150">
                <a:solidFill>
                  <a:srgbClr val="F3F4F6"/>
                </a:solidFill>
              </a:defRPr>
            </a:pPr>
          </a:p>
          <a:p>
            <a:pPr>
              <a:spcAft>
                <a:spcPts val="300"/>
              </a:spcAft>
              <a:defRPr sz="1150">
                <a:solidFill>
                  <a:srgbClr val="F3F4F6"/>
                </a:solidFill>
              </a:defRPr>
            </a:pPr>
            <a:r>
              <a:t>Balance difficulty pacing.</a:t>
            </a:r>
          </a:p>
        </p:txBody>
      </p:sp>
      <p:sp>
        <p:nvSpPr>
          <p:cNvPr id="6" name="Rounded Rectangle 5"/>
          <p:cNvSpPr/>
          <p:nvPr/>
        </p:nvSpPr>
        <p:spPr>
          <a:xfrm>
            <a:off x="6217920" y="4069080"/>
            <a:ext cx="5212080" cy="20116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Month 5–6: Steam Demo &amp; Next Fest</a:t>
            </a:r>
          </a:p>
          <a:p>
            <a:pPr>
              <a:spcAft>
                <a:spcPts val="300"/>
              </a:spcAft>
              <a:defRPr sz="1150">
                <a:solidFill>
                  <a:srgbClr val="F3F4F6"/>
                </a:solidFill>
              </a:defRPr>
            </a:pPr>
            <a:r>
              <a:t>Commission OST battle themes, polish UI/audio, and release a public 30-minute playable demo for Steam Next Fest.</a:t>
            </a:r>
          </a:p>
          <a:p>
            <a:pPr>
              <a:spcAft>
                <a:spcPts val="300"/>
              </a:spcAft>
              <a:defRPr sz="1150">
                <a:solidFill>
                  <a:srgbClr val="F3F4F6"/>
                </a:solidFill>
              </a:defRPr>
            </a:pPr>
          </a:p>
          <a:p>
            <a:pPr>
              <a:spcAft>
                <a:spcPts val="300"/>
              </a:spcAft>
              <a:defRPr sz="1150">
                <a:solidFill>
                  <a:srgbClr val="F3F4F6"/>
                </a:solidFill>
              </a:defRPr>
            </a:pPr>
            <a:r>
              <a:t>Open commercial publisher negotiations.</a:t>
            </a:r>
          </a:p>
        </p:txBody>
      </p:sp>
      <p:sp>
        <p:nvSpPr>
          <p:cNvPr id="7" name="Rounded Rectangle 6"/>
          <p:cNvSpPr/>
          <p:nvPr/>
        </p:nvSpPr>
        <p:spPr>
          <a:xfrm>
            <a:off x="731520" y="5532120"/>
            <a:ext cx="10698480" cy="73152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Execution Risk = Near Zero</a:t>
            </a:r>
          </a:p>
          <a:p>
            <a:pPr>
              <a:spcAft>
                <a:spcPts val="300"/>
              </a:spcAft>
              <a:defRPr sz="1150">
                <a:solidFill>
                  <a:srgbClr val="F3F4F6"/>
                </a:solidFill>
              </a:defRPr>
            </a:pPr>
            <a:r>
              <a:t>Core combat engine, hex grid math, kinetic displacement, and land-siphoning loops are ALREADY complete (Month 0). Months 1–6 are strictly for content, art pipeline, and AI tuning.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SECTIONS 6 &amp; 7: THE ASK &amp; MORE INFO</a:t>
            </a:r>
          </a:p>
          <a:p>
            <a:pPr>
              <a:defRPr sz="2400" b="1">
                <a:solidFill>
                  <a:srgbClr val="F3F4F6"/>
                </a:solidFill>
              </a:defRPr>
            </a:pPr>
            <a:r>
              <a:t>The Ask: $6,000 USD Lean Budget &amp; Next Stage</a:t>
            </a:r>
          </a:p>
        </p:txBody>
      </p:sp>
      <p:sp>
        <p:nvSpPr>
          <p:cNvPr id="3" name="Rounded Rectangle 2"/>
          <p:cNvSpPr/>
          <p:nvPr/>
        </p:nvSpPr>
        <p:spPr>
          <a:xfrm>
            <a:off x="731520" y="1645920"/>
            <a:ext cx="5669280" cy="466344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High-Approval Budget Allocation</a:t>
            </a:r>
          </a:p>
          <a:p>
            <a:pPr>
              <a:spcAft>
                <a:spcPts val="300"/>
              </a:spcAft>
              <a:defRPr sz="1150">
                <a:solidFill>
                  <a:srgbClr val="F3F4F6"/>
                </a:solidFill>
              </a:defRPr>
            </a:pPr>
            <a:r>
              <a:t>• [60%] Solo Dev Living Runway (6 Mos @ $600/mo): $3,600</a:t>
            </a:r>
          </a:p>
          <a:p>
            <a:pPr>
              <a:spcAft>
                <a:spcPts val="300"/>
              </a:spcAft>
              <a:defRPr sz="1150">
                <a:solidFill>
                  <a:srgbClr val="F3F4F6"/>
                </a:solidFill>
              </a:defRPr>
            </a:pPr>
            <a:r>
              <a:t>  (~Rp 9.300.000/month living runway to work full-time)</a:t>
            </a:r>
          </a:p>
          <a:p>
            <a:pPr>
              <a:spcAft>
                <a:spcPts val="300"/>
              </a:spcAft>
              <a:defRPr sz="1150">
                <a:solidFill>
                  <a:srgbClr val="F3F4F6"/>
                </a:solidFill>
              </a:defRPr>
            </a:pPr>
          </a:p>
          <a:p>
            <a:pPr>
              <a:spcAft>
                <a:spcPts val="300"/>
              </a:spcAft>
              <a:defRPr sz="1150">
                <a:solidFill>
                  <a:srgbClr val="F3F4F6"/>
                </a:solidFill>
              </a:defRPr>
            </a:pPr>
            <a:r>
              <a:t>• [20%] Core Character Sprite Pipeline (Demo Milestone): $1,200</a:t>
            </a:r>
          </a:p>
          <a:p>
            <a:pPr>
              <a:spcAft>
                <a:spcPts val="300"/>
              </a:spcAft>
              <a:defRPr sz="1150">
                <a:solidFill>
                  <a:srgbClr val="F3F4F6"/>
                </a:solidFill>
              </a:defRPr>
            </a:pPr>
            <a:r>
              <a:t>  (6 foundational classes with 2-dir retro loops; scalable to 20+ classes upon full publishing deal)</a:t>
            </a:r>
          </a:p>
          <a:p>
            <a:pPr>
              <a:spcAft>
                <a:spcPts val="300"/>
              </a:spcAft>
              <a:defRPr sz="1150">
                <a:solidFill>
                  <a:srgbClr val="F3F4F6"/>
                </a:solidFill>
              </a:defRPr>
            </a:pPr>
          </a:p>
          <a:p>
            <a:pPr>
              <a:spcAft>
                <a:spcPts val="300"/>
              </a:spcAft>
              <a:defRPr sz="1150">
                <a:solidFill>
                  <a:srgbClr val="F3F4F6"/>
                </a:solidFill>
              </a:defRPr>
            </a:pPr>
            <a:r>
              <a:t>• [10%] Original Tactical Soundtrack Commission: $600</a:t>
            </a:r>
          </a:p>
          <a:p>
            <a:pPr>
              <a:spcAft>
                <a:spcPts val="300"/>
              </a:spcAft>
              <a:defRPr sz="1150">
                <a:solidFill>
                  <a:srgbClr val="F3F4F6"/>
                </a:solidFill>
              </a:defRPr>
            </a:pPr>
            <a:r>
              <a:t>  (2 tactical battle themes by an indie composer)</a:t>
            </a:r>
          </a:p>
          <a:p>
            <a:pPr>
              <a:spcAft>
                <a:spcPts val="300"/>
              </a:spcAft>
              <a:defRPr sz="1150">
                <a:solidFill>
                  <a:srgbClr val="F3F4F6"/>
                </a:solidFill>
              </a:defRPr>
            </a:pPr>
          </a:p>
          <a:p>
            <a:pPr>
              <a:spcAft>
                <a:spcPts val="300"/>
              </a:spcAft>
              <a:defRPr sz="1150">
                <a:solidFill>
                  <a:srgbClr val="F3F4F6"/>
                </a:solidFill>
              </a:defRPr>
            </a:pPr>
            <a:r>
              <a:t>• [10%] Steam Listing Fee &amp; Unity Editor Tools: $600</a:t>
            </a:r>
          </a:p>
          <a:p>
            <a:pPr>
              <a:spcAft>
                <a:spcPts val="300"/>
              </a:spcAft>
              <a:defRPr sz="1150">
                <a:solidFill>
                  <a:srgbClr val="F3F4F6"/>
                </a:solidFill>
              </a:defRPr>
            </a:pPr>
            <a:r>
              <a:t>  ($100 Steam fee + essential editor productivity tools)</a:t>
            </a:r>
          </a:p>
          <a:p>
            <a:pPr>
              <a:spcAft>
                <a:spcPts val="300"/>
              </a:spcAft>
              <a:defRPr sz="1150">
                <a:solidFill>
                  <a:srgbClr val="F3F4F6"/>
                </a:solidFill>
              </a:defRPr>
            </a:pPr>
          </a:p>
          <a:p>
            <a:pPr>
              <a:spcAft>
                <a:spcPts val="300"/>
              </a:spcAft>
              <a:defRPr sz="1150">
                <a:solidFill>
                  <a:srgbClr val="F3F4F6"/>
                </a:solidFill>
              </a:defRPr>
            </a:pPr>
            <a:r>
              <a:t>TOTAL REQUESTED: $6,000 USD (~Rp 93.000.000)</a:t>
            </a:r>
          </a:p>
        </p:txBody>
      </p:sp>
      <p:sp>
        <p:nvSpPr>
          <p:cNvPr id="4" name="Rounded Rectangle 3"/>
          <p:cNvSpPr/>
          <p:nvPr/>
        </p:nvSpPr>
        <p:spPr>
          <a:xfrm>
            <a:off x="6675120" y="1645920"/>
            <a:ext cx="4754880" cy="24688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Developer Profile &amp; Contact</a:t>
            </a:r>
          </a:p>
          <a:p>
            <a:pPr>
              <a:spcAft>
                <a:spcPts val="300"/>
              </a:spcAft>
              <a:defRPr sz="1150">
                <a:solidFill>
                  <a:srgbClr val="F3F4F6"/>
                </a:solidFill>
              </a:defRPr>
            </a:pPr>
            <a:r>
              <a:t>Developer: Elang Esa Yudhistira</a:t>
            </a:r>
          </a:p>
          <a:p>
            <a:pPr>
              <a:spcAft>
                <a:spcPts val="300"/>
              </a:spcAft>
              <a:defRPr sz="1150">
                <a:solidFill>
                  <a:srgbClr val="F3F4F6"/>
                </a:solidFill>
              </a:defRPr>
            </a:pPr>
            <a:r>
              <a:t>Role: Solo Game Designer &amp; Lead Programmer</a:t>
            </a:r>
          </a:p>
          <a:p>
            <a:pPr>
              <a:spcAft>
                <a:spcPts val="300"/>
              </a:spcAft>
              <a:defRPr sz="1150">
                <a:solidFill>
                  <a:srgbClr val="F3F4F6"/>
                </a:solidFill>
              </a:defRPr>
            </a:pPr>
            <a:r>
              <a:t>Location: Indonesia 🇮🇩</a:t>
            </a:r>
          </a:p>
          <a:p>
            <a:pPr>
              <a:spcAft>
                <a:spcPts val="300"/>
              </a:spcAft>
              <a:defRPr sz="1150">
                <a:solidFill>
                  <a:srgbClr val="F3F4F6"/>
                </a:solidFill>
              </a:defRPr>
            </a:pPr>
            <a:r>
              <a:t>Portfolio: https://nealverse.itch.io</a:t>
            </a:r>
          </a:p>
          <a:p>
            <a:pPr>
              <a:spcAft>
                <a:spcPts val="300"/>
              </a:spcAft>
              <a:defRPr sz="1150">
                <a:solidFill>
                  <a:srgbClr val="F3F4F6"/>
                </a:solidFill>
              </a:defRPr>
            </a:pPr>
            <a:r>
              <a:t>Email: yelangesa@gmail.com</a:t>
            </a:r>
          </a:p>
          <a:p>
            <a:pPr>
              <a:spcAft>
                <a:spcPts val="300"/>
              </a:spcAft>
              <a:defRPr sz="1150">
                <a:solidFill>
                  <a:srgbClr val="F3F4F6"/>
                </a:solidFill>
              </a:defRPr>
            </a:pPr>
            <a:r>
              <a:t>GitHub: https://github.com/nealverseprime</a:t>
            </a:r>
          </a:p>
        </p:txBody>
      </p:sp>
      <p:sp>
        <p:nvSpPr>
          <p:cNvPr id="5" name="Rounded Rectangle 4"/>
          <p:cNvSpPr/>
          <p:nvPr/>
        </p:nvSpPr>
        <p:spPr>
          <a:xfrm>
            <a:off x="6675120" y="4297680"/>
            <a:ext cx="4754880" cy="20116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What Toge Gets &amp; Demo Link</a:t>
            </a:r>
          </a:p>
          <a:p>
            <a:pPr>
              <a:spcAft>
                <a:spcPts val="300"/>
              </a:spcAft>
              <a:defRPr sz="1150">
                <a:solidFill>
                  <a:srgbClr val="F3F4F6"/>
                </a:solidFill>
              </a:defRPr>
            </a:pPr>
            <a:r>
              <a:t>• Verified Windows Prototype: Standalone .exe included</a:t>
            </a:r>
          </a:p>
          <a:p>
            <a:pPr>
              <a:spcAft>
                <a:spcPts val="300"/>
              </a:spcAft>
              <a:defRPr sz="1150">
                <a:solidFill>
                  <a:srgbClr val="F3F4F6"/>
                </a:solidFill>
              </a:defRPr>
            </a:pPr>
            <a:r>
              <a:t>• Right of First Refusal: Full publishing commercial deal ($50k-$150k) for 20+ classes and full campaign</a:t>
            </a:r>
          </a:p>
          <a:p>
            <a:pPr>
              <a:spcAft>
                <a:spcPts val="300"/>
              </a:spcAft>
              <a:defRPr sz="1150">
                <a:solidFill>
                  <a:srgbClr val="F3F4F6"/>
                </a:solidFill>
              </a:defRPr>
            </a:pPr>
            <a:r>
              <a:t>• Accountability: Bi-weekly milestone builds uploaded to private itch.io / GitHub milestone branches.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