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Kris and the Toge team, I'm Elang, a solo indie developer from Indonesia. Today I'm pitching Elemental Hex Tactics, a 2.5D tactical RPG inspired by classic JRPGs and Into the Breach, where the terrain itself is your greatest weapon.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loop creates a natural tactical rhythm: you light the ground on fire, knock an enemy into it, stand in the fire to buff your dragon, drain the land for energy, and wipe out the enemy squad with a volcanic cataclysm.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focus on three gameplay pillars: offensive terraforming with elemental magic, Titans that feed on the battlefield, and kinetic displacement that makes positioning lethal.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aren't pitching an unproven idea. The vertical slice is completely built, tested, and playable today. You can run the Windows build from my submission and play through an entire battle.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solved two major tactical RPG frustrations: Ghost UI eliminates cognitive overload by previewing reactions before casting, and hybrid attack-spells remove setup tax so every single turn feels impactful.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squad features asymmetric roles: your fragile Commander shapes the terrain and controls space, while your Titan holds the frontline, absorbs environmental energy, and delivers the finishing blows.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individual battles, the campaign features a node-based expedition map with spellbook upgrades, elemental titan customization, and zero level grinding.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Brigandine proved that players love hex-grid monster commanding on Steam. Vanaris and Into the Breach proved the market for retro tactics and kinetic shoves. Elemental Hex Tactics combines these proven elements into fast 10-minute HD-2D matches.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3-part visual progression: our verified working prototype in Unity 6, our hex combat reference in Brigandine, and our target HD-2D visual benchmark. This proves we have a working foundation, a clear commercial reference, and a mathematically viable $1,200 asset pipeline.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core game mechanics and physics already proven in Unity, the next 6 months are focused purely on production: commissioning custom sprite animations, adding 2 more biomes, and shipping a public Steam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 disciplined $6,000 budget. $600 a month covers my living costs in Indonesia so I can commit full-time for 6 months, while the rest commissions dedicated pixel art, music, and covers the Steam fee. Thank you for your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1005840"/>
            <a:ext cx="5669280" cy="5303520"/>
          </a:xfrm>
          <a:prstGeom prst="rect">
            <a:avLst/>
          </a:prstGeom>
          <a:noFill/>
        </p:spPr>
        <p:txBody>
          <a:bodyPr wrap="square">
            <a:spAutoFit/>
          </a:bodyPr>
          <a:lstStyle/>
          <a:p>
            <a:pPr>
              <a:defRPr sz="1200" b="1">
                <a:solidFill>
                  <a:srgbClr val="06B6D4"/>
                </a:solidFill>
              </a:defRPr>
            </a:pPr>
            <a:r>
              <a:t>TOGE GAME FUND INITIATIVE (TGFI) PITCH</a:t>
            </a:r>
          </a:p>
          <a:p>
            <a:pPr>
              <a:spcAft>
                <a:spcPts val="600"/>
              </a:spcAft>
              <a:defRPr sz="3600" b="1">
                <a:solidFill>
                  <a:srgbClr val="F59E0B"/>
                </a:solidFill>
              </a:defRPr>
            </a:pPr>
            <a:r>
              <a:t>ELEMENTAL HEX TACTICS</a:t>
            </a:r>
          </a:p>
          <a:p>
            <a:pPr>
              <a:spcAft>
                <a:spcPts val="1200"/>
              </a:spcAft>
              <a:defRPr sz="1800" b="1">
                <a:solidFill>
                  <a:srgbClr val="06B6D4"/>
                </a:solidFill>
              </a:defRPr>
            </a:pPr>
            <a:r>
              <a:t>"Into the Breach meets Final Fantasy Tactics"</a:t>
            </a:r>
          </a:p>
          <a:p>
            <a:pPr>
              <a:spcAft>
                <a:spcPts val="1800"/>
              </a:spcAft>
              <a:defRPr sz="1300">
                <a:solidFill>
                  <a:srgbClr val="F3F4F6"/>
                </a:solidFill>
              </a:defRPr>
            </a:pPr>
            <a:r>
              <a:t>A fast-paced 2.5D tactical RPG where the battlefield itself is an interactive chemical weapon. Alter 3D terrain with elemental magic, shove enemies into hazards, and harvest the land to fuel colossal Titan abilities.</a:t>
            </a:r>
          </a:p>
          <a:p>
            <a:pPr>
              <a:defRPr sz="1200">
                <a:solidFill>
                  <a:srgbClr val="9CA3AF"/>
                </a:solidFill>
              </a:defRPr>
            </a:pPr>
            <a:r>
              <a:t>👤 Developer: Elang Esa Yudhistira (Solo Indie Dev)</a:t>
            </a:r>
            <a:br/>
            <a:r>
              <a:t>📍 Location: Indonesia 🇮🇩</a:t>
            </a:r>
            <a:br/>
            <a:r>
              <a:t>🌐 Portfolio: https://nealverse.itch.io</a:t>
            </a:r>
            <a:br/>
            <a:r>
              <a:t>✉️ Email: yelangesa@gmail.com</a:t>
            </a:r>
            <a:br/>
            <a:r>
              <a:t>⚙️ Engine: Unity 6 (URP 3D)</a:t>
            </a:r>
            <a:br/>
            <a:r>
              <a:t>🎮 Playable Prototype: Standalone Windows .exe Ready</a:t>
            </a:r>
          </a:p>
        </p:txBody>
      </p:sp>
      <p:pic>
        <p:nvPicPr>
          <p:cNvPr id="3" name="Picture 2" descr="gameplay_action.png"/>
          <p:cNvPicPr>
            <a:picLocks noChangeAspect="1"/>
          </p:cNvPicPr>
          <p:nvPr/>
        </p:nvPicPr>
        <p:blipFill>
          <a:blip r:embed="rId2"/>
          <a:stretch>
            <a:fillRect/>
          </a:stretch>
        </p:blipFill>
        <p:spPr>
          <a:xfrm>
            <a:off x="6583680" y="1005840"/>
            <a:ext cx="4846320" cy="2735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Hook: The Ecosystem of War</a:t>
            </a:r>
          </a:p>
        </p:txBody>
      </p:sp>
      <p:sp>
        <p:nvSpPr>
          <p:cNvPr id="3" name="Rounded Rectangle 2"/>
          <p:cNvSpPr/>
          <p:nvPr/>
        </p:nvSpPr>
        <p:spPr>
          <a:xfrm>
            <a:off x="731520" y="1645920"/>
            <a:ext cx="10698480" cy="77724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THE 3-STEP TACTICAL LOOP</a:t>
            </a:r>
          </a:p>
          <a:p>
            <a:pPr>
              <a:spcAft>
                <a:spcPts val="300"/>
              </a:spcAft>
              <a:defRPr sz="1150">
                <a:solidFill>
                  <a:srgbClr val="F3F4F6"/>
                </a:solidFill>
              </a:defRPr>
            </a:pPr>
            <a:r>
              <a:t>1. Infuse (Terraform)   ➔   2. Attune (Adapt)   ➔   3. Consume (Unleash)</a:t>
            </a:r>
          </a:p>
        </p:txBody>
      </p:sp>
      <p:sp>
        <p:nvSpPr>
          <p:cNvPr id="4" name="Rounded Rectangle 3"/>
          <p:cNvSpPr/>
          <p:nvPr/>
        </p:nvSpPr>
        <p:spPr>
          <a:xfrm>
            <a:off x="7315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Infuse (Terraform)</a:t>
            </a:r>
          </a:p>
          <a:p>
            <a:pPr>
              <a:spcAft>
                <a:spcPts val="300"/>
              </a:spcAft>
              <a:defRPr sz="1150">
                <a:solidFill>
                  <a:srgbClr val="F3F4F6"/>
                </a:solidFill>
              </a:defRPr>
            </a:pPr>
            <a:r>
              <a:t>Spells physically change the ground in real-time.</a:t>
            </a:r>
          </a:p>
          <a:p>
            <a:pPr>
              <a:spcAft>
                <a:spcPts val="300"/>
              </a:spcAft>
              <a:defRPr sz="1150">
                <a:solidFill>
                  <a:srgbClr val="F3F4F6"/>
                </a:solidFill>
              </a:defRPr>
            </a:pPr>
          </a:p>
          <a:p>
            <a:pPr>
              <a:spcAft>
                <a:spcPts val="300"/>
              </a:spcAft>
              <a:defRPr sz="1150">
                <a:solidFill>
                  <a:srgbClr val="F3F4F6"/>
                </a:solidFill>
              </a:defRPr>
            </a:pPr>
            <a:r>
              <a:t>Fireballs burn lush grass into molten lava; water blasts douse flames and create concealing steam clouds.</a:t>
            </a:r>
          </a:p>
        </p:txBody>
      </p:sp>
      <p:sp>
        <p:nvSpPr>
          <p:cNvPr id="5" name="Rounded Rectangle 4"/>
          <p:cNvSpPr/>
          <p:nvPr/>
        </p:nvSpPr>
        <p:spPr>
          <a:xfrm>
            <a:off x="4389120" y="2651760"/>
            <a:ext cx="3383280" cy="25603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Attune (Adapt)</a:t>
            </a:r>
          </a:p>
          <a:p>
            <a:pPr>
              <a:spcAft>
                <a:spcPts val="300"/>
              </a:spcAft>
              <a:defRPr sz="1150">
                <a:solidFill>
                  <a:srgbClr val="F3F4F6"/>
                </a:solidFill>
              </a:defRPr>
            </a:pPr>
            <a:r>
              <a:t>Units gain dynamic passive buffs matching the ground beneath them.</a:t>
            </a:r>
          </a:p>
          <a:p>
            <a:pPr>
              <a:spcAft>
                <a:spcPts val="300"/>
              </a:spcAft>
              <a:defRPr sz="1150">
                <a:solidFill>
                  <a:srgbClr val="F3F4F6"/>
                </a:solidFill>
              </a:defRPr>
            </a:pPr>
          </a:p>
          <a:p>
            <a:pPr>
              <a:spcAft>
                <a:spcPts val="300"/>
              </a:spcAft>
              <a:defRPr sz="1150">
                <a:solidFill>
                  <a:srgbClr val="F3F4F6"/>
                </a:solidFill>
              </a:defRPr>
            </a:pPr>
            <a:r>
              <a:t>Standing on lava grants fire units +2 ATK and complete burn immunity.</a:t>
            </a:r>
          </a:p>
        </p:txBody>
      </p:sp>
      <p:sp>
        <p:nvSpPr>
          <p:cNvPr id="6" name="Rounded Rectangle 5"/>
          <p:cNvSpPr/>
          <p:nvPr/>
        </p:nvSpPr>
        <p:spPr>
          <a:xfrm>
            <a:off x="8046720" y="2651760"/>
            <a:ext cx="3383280" cy="256032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3. Consume (Unleash)</a:t>
            </a:r>
          </a:p>
          <a:p>
            <a:pPr>
              <a:spcAft>
                <a:spcPts val="300"/>
              </a:spcAft>
              <a:defRPr sz="1150">
                <a:solidFill>
                  <a:srgbClr val="F3F4F6"/>
                </a:solidFill>
              </a:defRPr>
            </a:pPr>
            <a:r>
              <a:t>Titans siphon active lava or lakes, turning the land into Barren Earth.</a:t>
            </a:r>
          </a:p>
          <a:p>
            <a:pPr>
              <a:spcAft>
                <a:spcPts val="300"/>
              </a:spcAft>
              <a:defRPr sz="1150">
                <a:solidFill>
                  <a:srgbClr val="F3F4F6"/>
                </a:solidFill>
              </a:defRPr>
            </a:pPr>
          </a:p>
          <a:p>
            <a:pPr>
              <a:spcAft>
                <a:spcPts val="300"/>
              </a:spcAft>
              <a:defRPr sz="1150">
                <a:solidFill>
                  <a:srgbClr val="F3F4F6"/>
                </a:solidFill>
              </a:defRPr>
            </a:pPr>
            <a:r>
              <a:t>Harvesting land generates Elemental Cores to trigger room-clearing ultimate Cataclysms.</a:t>
            </a:r>
          </a:p>
        </p:txBody>
      </p:sp>
      <p:sp>
        <p:nvSpPr>
          <p:cNvPr id="7" name="Rounded Rectangle 6"/>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Natural Synergy</a:t>
            </a:r>
          </a:p>
          <a:p>
            <a:pPr>
              <a:spcAft>
                <a:spcPts val="300"/>
              </a:spcAft>
              <a:defRPr sz="1150">
                <a:solidFill>
                  <a:srgbClr val="F3F4F6"/>
                </a:solidFill>
              </a:defRPr>
            </a:pPr>
            <a:r>
              <a:t>Setting tiles ablaze creates hazards to push enemies into, buffs your allied monsters, and generates fuel to cast match-winning Titan finishers.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Core Gameplay: Three Pillars of Combat</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Offensive Terraforming</a:t>
            </a:r>
          </a:p>
          <a:p>
            <a:pPr>
              <a:spcAft>
                <a:spcPts val="300"/>
              </a:spcAft>
              <a:defRPr sz="1150">
                <a:solidFill>
                  <a:srgbClr val="F3F4F6"/>
                </a:solidFill>
              </a:defRPr>
            </a:pPr>
            <a:r>
              <a:t>Don't just cast spells at enemy health bars.</a:t>
            </a:r>
          </a:p>
          <a:p>
            <a:pPr>
              <a:spcAft>
                <a:spcPts val="300"/>
              </a:spcAft>
              <a:defRPr sz="1150">
                <a:solidFill>
                  <a:srgbClr val="F3F4F6"/>
                </a:solidFill>
              </a:defRPr>
            </a:pPr>
          </a:p>
          <a:p>
            <a:pPr>
              <a:spcAft>
                <a:spcPts val="300"/>
              </a:spcAft>
              <a:defRPr sz="1150">
                <a:solidFill>
                  <a:srgbClr val="F3F4F6"/>
                </a:solidFill>
              </a:defRPr>
            </a:pPr>
            <a:r>
              <a:t>Target the ground itself to reshape the battlefield, cut off enemy escape routes, and carve lethal molten lava moats.</a:t>
            </a:r>
          </a:p>
          <a:p>
            <a:pPr>
              <a:spcAft>
                <a:spcPts val="300"/>
              </a:spcAft>
              <a:defRPr sz="1150">
                <a:solidFill>
                  <a:srgbClr val="F3F4F6"/>
                </a:solidFill>
              </a:defRPr>
            </a:pPr>
          </a:p>
          <a:p>
            <a:pPr>
              <a:spcAft>
                <a:spcPts val="300"/>
              </a:spcAft>
              <a:defRPr sz="1150">
                <a:solidFill>
                  <a:srgbClr val="F3F4F6"/>
                </a:solidFill>
              </a:defRPr>
            </a:pPr>
            <a:r>
              <a:t>Terrain isn't static decoration—it is your weapon.</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2. Titan Ecosystems</a:t>
            </a:r>
          </a:p>
          <a:p>
            <a:pPr>
              <a:spcAft>
                <a:spcPts val="300"/>
              </a:spcAft>
              <a:defRPr sz="1150">
                <a:solidFill>
                  <a:srgbClr val="F3F4F6"/>
                </a:solidFill>
              </a:defRPr>
            </a:pPr>
            <a:r>
              <a:t>Colossal allied monsters that feed directly on the environment.</a:t>
            </a:r>
          </a:p>
          <a:p>
            <a:pPr>
              <a:spcAft>
                <a:spcPts val="300"/>
              </a:spcAft>
              <a:defRPr sz="1150">
                <a:solidFill>
                  <a:srgbClr val="F3F4F6"/>
                </a:solidFill>
              </a:defRPr>
            </a:pPr>
          </a:p>
          <a:p>
            <a:pPr>
              <a:spcAft>
                <a:spcPts val="300"/>
              </a:spcAft>
              <a:defRPr sz="1150">
                <a:solidFill>
                  <a:srgbClr val="F3F4F6"/>
                </a:solidFill>
              </a:defRPr>
            </a:pPr>
            <a:r>
              <a:t>The more elemental chaos on the board, the more energy your Titan absorbs for ultimate abilities.</a:t>
            </a:r>
          </a:p>
          <a:p>
            <a:pPr>
              <a:spcAft>
                <a:spcPts val="300"/>
              </a:spcAft>
              <a:defRPr sz="1150">
                <a:solidFill>
                  <a:srgbClr val="F3F4F6"/>
                </a:solidFill>
              </a:defRPr>
            </a:pPr>
          </a:p>
          <a:p>
            <a:pPr>
              <a:spcAft>
                <a:spcPts val="300"/>
              </a:spcAft>
              <a:defRPr sz="1150">
                <a:solidFill>
                  <a:srgbClr val="F3F4F6"/>
                </a:solidFill>
              </a:defRPr>
            </a:pPr>
            <a:r>
              <a:t>Titans are naturally immune to elemental hazards.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3. Kinetic Shoves &amp; Physics</a:t>
            </a:r>
          </a:p>
          <a:p>
            <a:pPr>
              <a:spcAft>
                <a:spcPts val="300"/>
              </a:spcAft>
              <a:defRPr sz="1150">
                <a:solidFill>
                  <a:srgbClr val="F3F4F6"/>
                </a:solidFill>
              </a:defRPr>
            </a:pPr>
            <a:r>
              <a:t>Directional displacement is lethal.</a:t>
            </a:r>
          </a:p>
          <a:p>
            <a:pPr>
              <a:spcAft>
                <a:spcPts val="300"/>
              </a:spcAft>
              <a:defRPr sz="1150">
                <a:solidFill>
                  <a:srgbClr val="F3F4F6"/>
                </a:solidFill>
              </a:defRPr>
            </a:pPr>
          </a:p>
          <a:p>
            <a:pPr>
              <a:spcAft>
                <a:spcPts val="300"/>
              </a:spcAft>
              <a:defRPr sz="1150">
                <a:solidFill>
                  <a:srgbClr val="F3F4F6"/>
                </a:solidFill>
              </a:defRPr>
            </a:pPr>
            <a:r>
              <a:t>Shoving enemies into stone cliffs deals heavy collision impact damage.</a:t>
            </a:r>
          </a:p>
          <a:p>
            <a:pPr>
              <a:spcAft>
                <a:spcPts val="300"/>
              </a:spcAft>
              <a:defRPr sz="1150">
                <a:solidFill>
                  <a:srgbClr val="F3F4F6"/>
                </a:solidFill>
              </a:defRPr>
            </a:pPr>
          </a:p>
          <a:p>
            <a:pPr>
              <a:spcAft>
                <a:spcPts val="300"/>
              </a:spcAft>
              <a:defRPr sz="1150">
                <a:solidFill>
                  <a:srgbClr val="F3F4F6"/>
                </a:solidFill>
              </a:defRPr>
            </a:pPr>
            <a:r>
              <a:t>Knocking them into lava or off cliffs inflicts continuous environmental burns.</a:t>
            </a:r>
          </a:p>
        </p:txBody>
      </p:sp>
      <p:sp>
        <p:nvSpPr>
          <p:cNvPr id="6" name="Rounded Rectangle 5"/>
          <p:cNvSpPr/>
          <p:nvPr/>
        </p:nvSpPr>
        <p:spPr>
          <a:xfrm>
            <a:off x="731520" y="5440680"/>
            <a:ext cx="10698480" cy="8229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Fast Action Economy</a:t>
            </a:r>
          </a:p>
          <a:p>
            <a:pPr>
              <a:spcAft>
                <a:spcPts val="300"/>
              </a:spcAft>
              <a:defRPr sz="1150">
                <a:solidFill>
                  <a:srgbClr val="F3F4F6"/>
                </a:solidFill>
              </a:defRPr>
            </a:pPr>
            <a:r>
              <a:t>Every unit gets a clean 1 Move + 1 Combat Action per turn. No menu paralysis, no 45-minute slogs—just tight 10-minute spatial puzzles.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Gameplay Demo: Verified Vertical Slice</a:t>
            </a:r>
          </a:p>
        </p:txBody>
      </p:sp>
      <p:sp>
        <p:nvSpPr>
          <p:cNvPr id="3" name="Rounded Rectangle 2"/>
          <p:cNvSpPr/>
          <p:nvPr/>
        </p:nvSpPr>
        <p:spPr>
          <a:xfrm>
            <a:off x="731520" y="1645920"/>
            <a:ext cx="5486400" cy="356616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Fully Working 2v2 Skirmish in Unity 6</a:t>
            </a:r>
          </a:p>
          <a:p>
            <a:pPr>
              <a:spcAft>
                <a:spcPts val="300"/>
              </a:spcAft>
              <a:defRPr sz="1150">
                <a:solidFill>
                  <a:srgbClr val="F3F4F6"/>
                </a:solidFill>
              </a:defRPr>
            </a:pPr>
            <a:r>
              <a:t>• 3D procedural hex grid with multi-level cliff elevations</a:t>
            </a:r>
          </a:p>
          <a:p>
            <a:pPr>
              <a:spcAft>
                <a:spcPts val="300"/>
              </a:spcAft>
              <a:defRPr sz="1150">
                <a:solidFill>
                  <a:srgbClr val="F3F4F6"/>
                </a:solidFill>
              </a:defRPr>
            </a:pPr>
            <a:r>
              <a:t>• Kinetic shove physics with wall-impact damage &amp; lava burns</a:t>
            </a:r>
          </a:p>
          <a:p>
            <a:pPr>
              <a:spcAft>
                <a:spcPts val="300"/>
              </a:spcAft>
              <a:defRPr sz="1150">
                <a:solidFill>
                  <a:srgbClr val="F3F4F6"/>
                </a:solidFill>
              </a:defRPr>
            </a:pPr>
            <a:r>
              <a:t>• Continuous turn-based hazard burn ticks</a:t>
            </a:r>
          </a:p>
          <a:p>
            <a:pPr>
              <a:spcAft>
                <a:spcPts val="300"/>
              </a:spcAft>
              <a:defRPr sz="1150">
                <a:solidFill>
                  <a:srgbClr val="F3F4F6"/>
                </a:solidFill>
              </a:defRPr>
            </a:pPr>
            <a:r>
              <a:t>• FFT-style terrain attunement (Flame Surge buffs &amp; immunities)</a:t>
            </a:r>
          </a:p>
          <a:p>
            <a:pPr>
              <a:spcAft>
                <a:spcPts val="300"/>
              </a:spcAft>
              <a:defRPr sz="1150">
                <a:solidFill>
                  <a:srgbClr val="F3F4F6"/>
                </a:solidFill>
              </a:defRPr>
            </a:pPr>
            <a:r>
              <a:t>• Land siphoning turning active terrain into Barren Earth</a:t>
            </a:r>
          </a:p>
          <a:p>
            <a:pPr>
              <a:spcAft>
                <a:spcPts val="300"/>
              </a:spcAft>
              <a:defRPr sz="1150">
                <a:solidFill>
                  <a:srgbClr val="F3F4F6"/>
                </a:solidFill>
              </a:defRPr>
            </a:pPr>
            <a:r>
              <a:t>• Titan Magma Cataclysm with camera screen shake trauma</a:t>
            </a:r>
          </a:p>
          <a:p>
            <a:pPr>
              <a:spcAft>
                <a:spcPts val="300"/>
              </a:spcAft>
              <a:defRPr sz="1150">
                <a:solidFill>
                  <a:srgbClr val="F3F4F6"/>
                </a:solidFill>
              </a:defRPr>
            </a:pPr>
            <a:r>
              <a:t>• Zero-dependency procedural audio engine with mute toggle</a:t>
            </a:r>
          </a:p>
        </p:txBody>
      </p:sp>
      <p:sp>
        <p:nvSpPr>
          <p:cNvPr id="4" name="Rounded Rectangle 3"/>
          <p:cNvSpPr/>
          <p:nvPr/>
        </p:nvSpPr>
        <p:spPr>
          <a:xfrm>
            <a:off x="731520" y="5440680"/>
            <a:ext cx="548640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30-Second Combat Sequence</a:t>
            </a:r>
          </a:p>
          <a:p>
            <a:pPr>
              <a:spcAft>
                <a:spcPts val="300"/>
              </a:spcAft>
              <a:defRPr sz="1150">
                <a:solidFill>
                  <a:srgbClr val="F3F4F6"/>
                </a:solidFill>
              </a:defRPr>
            </a:pPr>
            <a:r>
              <a:t>Fireball ignites grass ➔ Shove slams enemy into rock ➔ Dragon siphons lava (+1 Core) ➔ Magma Cataclysm wipes the board!</a:t>
            </a:r>
          </a:p>
        </p:txBody>
      </p:sp>
      <p:pic>
        <p:nvPicPr>
          <p:cNvPr id="5" name="Picture 4" descr="gameplay_victory.png"/>
          <p:cNvPicPr>
            <a:picLocks noChangeAspect="1"/>
          </p:cNvPicPr>
          <p:nvPr/>
        </p:nvPicPr>
        <p:blipFill>
          <a:blip r:embed="rId2"/>
          <a:stretch>
            <a:fillRect/>
          </a:stretch>
        </p:blipFill>
        <p:spPr>
          <a:xfrm>
            <a:off x="6492240" y="1645920"/>
            <a:ext cx="4937760" cy="307027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Game Design Solutions: Player-First Combat</a:t>
            </a:r>
          </a:p>
        </p:txBody>
      </p:sp>
      <p:sp>
        <p:nvSpPr>
          <p:cNvPr id="3" name="Rounded Rectangle 2"/>
          <p:cNvSpPr/>
          <p:nvPr/>
        </p:nvSpPr>
        <p:spPr>
          <a:xfrm>
            <a:off x="731520" y="1645920"/>
            <a:ext cx="5212080" cy="45720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1. Solving 'Cognitive Overload'</a:t>
            </a:r>
          </a:p>
          <a:p>
            <a:pPr>
              <a:spcAft>
                <a:spcPts val="300"/>
              </a:spcAft>
              <a:defRPr sz="1150">
                <a:solidFill>
                  <a:srgbClr val="F3F4F6"/>
                </a:solidFill>
              </a:defRPr>
            </a:pPr>
            <a:r>
              <a:t>The Problem in Classic SRPGs:</a:t>
            </a:r>
          </a:p>
          <a:p>
            <a:pPr>
              <a:spcAft>
                <a:spcPts val="300"/>
              </a:spcAft>
              <a:defRPr sz="1150">
                <a:solidFill>
                  <a:srgbClr val="F3F4F6"/>
                </a:solidFill>
              </a:defRPr>
            </a:pPr>
            <a:r>
              <a:t>Classic elemental tactics games overwhelm players with dozens of confusing status effect icons, elemental charts, and hidden percentage calculation tables.</a:t>
            </a:r>
          </a:p>
          <a:p>
            <a:pPr>
              <a:spcAft>
                <a:spcPts val="300"/>
              </a:spcAft>
              <a:defRPr sz="1150">
                <a:solidFill>
                  <a:srgbClr val="F3F4F6"/>
                </a:solidFill>
              </a:defRPr>
            </a:pPr>
          </a:p>
          <a:p>
            <a:pPr>
              <a:spcAft>
                <a:spcPts val="300"/>
              </a:spcAft>
              <a:defRPr sz="1150">
                <a:solidFill>
                  <a:srgbClr val="F3F4F6"/>
                </a:solidFill>
              </a:defRPr>
            </a:pPr>
            <a:r>
              <a:t>Our Solution: Ghost UI (Predictive Preview)</a:t>
            </a:r>
          </a:p>
          <a:p>
            <a:pPr>
              <a:spcAft>
                <a:spcPts val="300"/>
              </a:spcAft>
              <a:defRPr sz="1150">
                <a:solidFill>
                  <a:srgbClr val="F3F4F6"/>
                </a:solidFill>
              </a:defRPr>
            </a:pPr>
            <a:r>
              <a:t>Hovering any spell or push action over a tile immediately previews the exact physical terrain reaction and knockback path before the player commits.</a:t>
            </a:r>
          </a:p>
          <a:p>
            <a:pPr>
              <a:spcAft>
                <a:spcPts val="300"/>
              </a:spcAft>
              <a:defRPr sz="1150">
                <a:solidFill>
                  <a:srgbClr val="F3F4F6"/>
                </a:solidFill>
              </a:defRPr>
            </a:pPr>
          </a:p>
          <a:p>
            <a:pPr>
              <a:spcAft>
                <a:spcPts val="300"/>
              </a:spcAft>
              <a:defRPr sz="1150">
                <a:solidFill>
                  <a:srgbClr val="F3F4F6"/>
                </a:solidFill>
              </a:defRPr>
            </a:pPr>
            <a:r>
              <a:t>Result: Deep tactical planning with zero mental fatigue.</a:t>
            </a:r>
          </a:p>
        </p:txBody>
      </p:sp>
      <p:sp>
        <p:nvSpPr>
          <p:cNvPr id="4" name="Rounded Rectangle 3"/>
          <p:cNvSpPr/>
          <p:nvPr/>
        </p:nvSpPr>
        <p:spPr>
          <a:xfrm>
            <a:off x="6217920" y="1645920"/>
            <a:ext cx="5212080" cy="45720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2. Solving 'Setup Tax'</a:t>
            </a:r>
          </a:p>
          <a:p>
            <a:pPr>
              <a:spcAft>
                <a:spcPts val="300"/>
              </a:spcAft>
              <a:defRPr sz="1150">
                <a:solidFill>
                  <a:srgbClr val="F3F4F6"/>
                </a:solidFill>
              </a:defRPr>
            </a:pPr>
            <a:r>
              <a:t>The Problem in Classic SRPGs:</a:t>
            </a:r>
          </a:p>
          <a:p>
            <a:pPr>
              <a:spcAft>
                <a:spcPts val="300"/>
              </a:spcAft>
              <a:defRPr sz="1150">
                <a:solidFill>
                  <a:srgbClr val="F3F4F6"/>
                </a:solidFill>
              </a:defRPr>
            </a:pPr>
            <a:r>
              <a:t>Players hate wasting valuable turns just preparing terrain or placing elemental tiles without dealing actual damage to enemies.</a:t>
            </a:r>
          </a:p>
          <a:p>
            <a:pPr>
              <a:spcAft>
                <a:spcPts val="300"/>
              </a:spcAft>
              <a:defRPr sz="1150">
                <a:solidFill>
                  <a:srgbClr val="F3F4F6"/>
                </a:solidFill>
              </a:defRPr>
            </a:pPr>
          </a:p>
          <a:p>
            <a:pPr>
              <a:spcAft>
                <a:spcPts val="300"/>
              </a:spcAft>
              <a:defRPr sz="1150">
                <a:solidFill>
                  <a:srgbClr val="F3F4F6"/>
                </a:solidFill>
              </a:defRPr>
            </a:pPr>
            <a:r>
              <a:t>Our Solution: Hybrid Attack-Spells</a:t>
            </a:r>
          </a:p>
          <a:p>
            <a:pPr>
              <a:spcAft>
                <a:spcPts val="300"/>
              </a:spcAft>
              <a:defRPr sz="1150">
                <a:solidFill>
                  <a:srgbClr val="F3F4F6"/>
                </a:solidFill>
              </a:defRPr>
            </a:pPr>
            <a:r>
              <a:t>Every spell acts simultaneously! Fireball deals direct damage to the target AND mutates the ground into lava in 1 action. Kinetic Push deals damage AND displaces.</a:t>
            </a:r>
          </a:p>
          <a:p>
            <a:pPr>
              <a:spcAft>
                <a:spcPts val="300"/>
              </a:spcAft>
              <a:defRPr sz="1150">
                <a:solidFill>
                  <a:srgbClr val="F3F4F6"/>
                </a:solidFill>
              </a:defRPr>
            </a:pPr>
          </a:p>
          <a:p>
            <a:pPr>
              <a:spcAft>
                <a:spcPts val="300"/>
              </a:spcAft>
              <a:defRPr sz="1150">
                <a:solidFill>
                  <a:srgbClr val="F3F4F6"/>
                </a:solidFill>
              </a:defRPr>
            </a:pPr>
            <a:r>
              <a:t>Result: Fast pacing where every single turn feels impactful.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Unit Asymmetry: Shapers vs. Titans</a:t>
            </a:r>
          </a:p>
        </p:txBody>
      </p:sp>
      <p:sp>
        <p:nvSpPr>
          <p:cNvPr id="3" name="Rounded Rectangle 2"/>
          <p:cNvSpPr/>
          <p:nvPr/>
        </p:nvSpPr>
        <p:spPr>
          <a:xfrm>
            <a:off x="731520" y="1645920"/>
            <a:ext cx="5212080" cy="22402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Human Commanders (The Shapers)</a:t>
            </a:r>
          </a:p>
          <a:p>
            <a:pPr>
              <a:spcAft>
                <a:spcPts val="300"/>
              </a:spcAft>
              <a:defRPr sz="1150">
                <a:solidFill>
                  <a:srgbClr val="F3F4F6"/>
                </a:solidFill>
              </a:defRPr>
            </a:pPr>
            <a:r>
              <a:t>ROLE: Map Manipulator (Low HP, High Mobility, Spatial Control)</a:t>
            </a:r>
          </a:p>
          <a:p>
            <a:pPr>
              <a:spcAft>
                <a:spcPts val="300"/>
              </a:spcAft>
              <a:defRPr sz="1150">
                <a:solidFill>
                  <a:srgbClr val="F3F4F6"/>
                </a:solidFill>
              </a:defRPr>
            </a:pPr>
          </a:p>
          <a:p>
            <a:pPr>
              <a:spcAft>
                <a:spcPts val="300"/>
              </a:spcAft>
              <a:defRPr sz="1150">
                <a:solidFill>
                  <a:srgbClr val="F3F4F6"/>
                </a:solidFill>
              </a:defRPr>
            </a:pPr>
            <a:r>
              <a:t>Squishy but agile. Casts ranged Fireballs, Water Surges, and Kinetic Pushes to manipulate enemy positioning and shape terrain from afar.</a:t>
            </a:r>
          </a:p>
        </p:txBody>
      </p:sp>
      <p:sp>
        <p:nvSpPr>
          <p:cNvPr id="4" name="Rounded Rectangle 3"/>
          <p:cNvSpPr/>
          <p:nvPr/>
        </p:nvSpPr>
        <p:spPr>
          <a:xfrm>
            <a:off x="6217920" y="1645920"/>
            <a:ext cx="5212080" cy="2240280"/>
          </a:xfrm>
          <a:prstGeom prst="roundRect">
            <a:avLst/>
          </a:prstGeom>
          <a:solidFill>
            <a:srgbClr val="161B2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EF4444"/>
                </a:solidFill>
              </a:defRPr>
            </a:pPr>
            <a:r>
              <a:t>🐉 Allied Titans (Colossal Anchors)</a:t>
            </a:r>
          </a:p>
          <a:p>
            <a:pPr>
              <a:spcAft>
                <a:spcPts val="300"/>
              </a:spcAft>
              <a:defRPr sz="1150">
                <a:solidFill>
                  <a:srgbClr val="F3F4F6"/>
                </a:solidFill>
              </a:defRPr>
            </a:pPr>
            <a:r>
              <a:t>ROLE: Frontline Finisher (Colossal 14 HP, Hazard-Immune)</a:t>
            </a:r>
          </a:p>
          <a:p>
            <a:pPr>
              <a:spcAft>
                <a:spcPts val="300"/>
              </a:spcAft>
              <a:defRPr sz="1150">
                <a:solidFill>
                  <a:srgbClr val="F3F4F6"/>
                </a:solidFill>
              </a:defRPr>
            </a:pPr>
          </a:p>
          <a:p>
            <a:pPr>
              <a:spcAft>
                <a:spcPts val="300"/>
              </a:spcAft>
              <a:defRPr sz="1150">
                <a:solidFill>
                  <a:srgbClr val="F3F4F6"/>
                </a:solidFill>
              </a:defRPr>
            </a:pPr>
            <a:r>
              <a:t>Massive tank. Naturally immune to molten lava, holds down the frontline with heavy melee strikes, and harvests land to trigger room-clearing Magma Cataclysms.</a:t>
            </a:r>
          </a:p>
        </p:txBody>
      </p:sp>
      <p:sp>
        <p:nvSpPr>
          <p:cNvPr id="5" name="Rounded Rectangle 4"/>
          <p:cNvSpPr/>
          <p:nvPr/>
        </p:nvSpPr>
        <p:spPr>
          <a:xfrm>
            <a:off x="731520" y="4160520"/>
            <a:ext cx="5212080" cy="210312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Dracomancers (Enemy Bosses)</a:t>
            </a:r>
          </a:p>
          <a:p>
            <a:pPr>
              <a:spcAft>
                <a:spcPts val="300"/>
              </a:spcAft>
              <a:defRPr sz="1150">
                <a:solidFill>
                  <a:srgbClr val="F3F4F6"/>
                </a:solidFill>
              </a:defRPr>
            </a:pPr>
            <a:r>
              <a:t>ROLE: Tactical Rival Pyromancer</a:t>
            </a:r>
          </a:p>
          <a:p>
            <a:pPr>
              <a:spcAft>
                <a:spcPts val="300"/>
              </a:spcAft>
              <a:defRPr sz="1150">
                <a:solidFill>
                  <a:srgbClr val="F3F4F6"/>
                </a:solidFill>
              </a:defRPr>
            </a:pPr>
          </a:p>
          <a:p>
            <a:pPr>
              <a:spcAft>
                <a:spcPts val="300"/>
              </a:spcAft>
              <a:defRPr sz="1150">
                <a:solidFill>
                  <a:srgbClr val="F3F4F6"/>
                </a:solidFill>
              </a:defRPr>
            </a:pPr>
            <a:r>
              <a:t>Commands enemy squads, casts long-range fire spells, and uses kinetic knockbacks to shove player units off high ground into hazards.</a:t>
            </a:r>
          </a:p>
        </p:txBody>
      </p:sp>
      <p:sp>
        <p:nvSpPr>
          <p:cNvPr id="6" name="Rounded Rectangle 5"/>
          <p:cNvSpPr/>
          <p:nvPr/>
        </p:nvSpPr>
        <p:spPr>
          <a:xfrm>
            <a:off x="6217920" y="4160520"/>
            <a:ext cx="5212080" cy="210312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Demon Slimes (Aggressive Swarmers)</a:t>
            </a:r>
          </a:p>
          <a:p>
            <a:pPr>
              <a:spcAft>
                <a:spcPts val="300"/>
              </a:spcAft>
              <a:defRPr sz="1150">
                <a:solidFill>
                  <a:srgbClr val="F3F4F6"/>
                </a:solidFill>
              </a:defRPr>
            </a:pPr>
            <a:r>
              <a:t>ROLE: Fast Flanking Melee Minions</a:t>
            </a:r>
          </a:p>
          <a:p>
            <a:pPr>
              <a:spcAft>
                <a:spcPts val="300"/>
              </a:spcAft>
              <a:defRPr sz="1150">
                <a:solidFill>
                  <a:srgbClr val="F3F4F6"/>
                </a:solidFill>
              </a:defRPr>
            </a:pPr>
          </a:p>
          <a:p>
            <a:pPr>
              <a:spcAft>
                <a:spcPts val="300"/>
              </a:spcAft>
              <a:defRPr sz="1150">
                <a:solidFill>
                  <a:srgbClr val="F3F4F6"/>
                </a:solidFill>
              </a:defRPr>
            </a:pPr>
            <a:r>
              <a:t>Aggressive swarmers that navigate around hazards to flank your Commander and attempt to knock him off elevated plateaus.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Campaign Structure: Expeditions &amp; Progression</a:t>
            </a:r>
          </a:p>
        </p:txBody>
      </p:sp>
      <p:sp>
        <p:nvSpPr>
          <p:cNvPr id="3" name="Rounded Rectangle 2"/>
          <p:cNvSpPr/>
          <p:nvPr/>
        </p:nvSpPr>
        <p:spPr>
          <a:xfrm>
            <a:off x="7315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Node-Based Map</a:t>
            </a:r>
          </a:p>
          <a:p>
            <a:pPr>
              <a:spcAft>
                <a:spcPts val="300"/>
              </a:spcAft>
              <a:defRPr sz="1150">
                <a:solidFill>
                  <a:srgbClr val="F3F4F6"/>
                </a:solidFill>
              </a:defRPr>
            </a:pPr>
            <a:r>
              <a:t>Branching expedition map inspired by Slay the Spire and Into the Breach.</a:t>
            </a:r>
          </a:p>
          <a:p>
            <a:pPr>
              <a:spcAft>
                <a:spcPts val="300"/>
              </a:spcAft>
              <a:defRPr sz="1150">
                <a:solidFill>
                  <a:srgbClr val="F3F4F6"/>
                </a:solidFill>
              </a:defRPr>
            </a:pPr>
          </a:p>
          <a:p>
            <a:pPr>
              <a:spcAft>
                <a:spcPts val="300"/>
              </a:spcAft>
              <a:defRPr sz="1150">
                <a:solidFill>
                  <a:srgbClr val="F3F4F6"/>
                </a:solidFill>
              </a:defRPr>
            </a:pPr>
            <a:r>
              <a:t>Choose your path through skirmishes, elemental shrines, mystery encounters, and rest camps.</a:t>
            </a:r>
          </a:p>
          <a:p>
            <a:pPr>
              <a:spcAft>
                <a:spcPts val="300"/>
              </a:spcAft>
              <a:defRPr sz="1150">
                <a:solidFill>
                  <a:srgbClr val="F3F4F6"/>
                </a:solidFill>
              </a:defRPr>
            </a:pPr>
          </a:p>
          <a:p>
            <a:pPr>
              <a:spcAft>
                <a:spcPts val="300"/>
              </a:spcAft>
              <a:defRPr sz="1150">
                <a:solidFill>
                  <a:srgbClr val="F3F4F6"/>
                </a:solidFill>
              </a:defRPr>
            </a:pPr>
            <a:r>
              <a:t>Every run presents unique terrain challenges.</a:t>
            </a:r>
          </a:p>
        </p:txBody>
      </p:sp>
      <p:sp>
        <p:nvSpPr>
          <p:cNvPr id="4" name="Rounded Rectangle 3"/>
          <p:cNvSpPr/>
          <p:nvPr/>
        </p:nvSpPr>
        <p:spPr>
          <a:xfrm>
            <a:off x="43891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Spellbooks &amp; Titans</a:t>
            </a:r>
          </a:p>
          <a:p>
            <a:pPr>
              <a:spcAft>
                <a:spcPts val="300"/>
              </a:spcAft>
              <a:defRPr sz="1150">
                <a:solidFill>
                  <a:srgbClr val="F3F4F6"/>
                </a:solidFill>
              </a:defRPr>
            </a:pPr>
            <a:r>
              <a:t>Unlock new elemental disciplines for your Commander (Ice, Lightning, Earth).</a:t>
            </a:r>
          </a:p>
          <a:p>
            <a:pPr>
              <a:spcAft>
                <a:spcPts val="300"/>
              </a:spcAft>
              <a:defRPr sz="1150">
                <a:solidFill>
                  <a:srgbClr val="F3F4F6"/>
                </a:solidFill>
              </a:defRPr>
            </a:pPr>
          </a:p>
          <a:p>
            <a:pPr>
              <a:spcAft>
                <a:spcPts val="300"/>
              </a:spcAft>
              <a:defRPr sz="1150">
                <a:solidFill>
                  <a:srgbClr val="F3F4F6"/>
                </a:solidFill>
              </a:defRPr>
            </a:pPr>
            <a:r>
              <a:t>Hatch and attune new Titan monsters with unique passive immunities and devastating Cataclysm ultimates.</a:t>
            </a:r>
          </a:p>
        </p:txBody>
      </p:sp>
      <p:sp>
        <p:nvSpPr>
          <p:cNvPr id="5" name="Rounded Rectangle 4"/>
          <p:cNvSpPr/>
          <p:nvPr/>
        </p:nvSpPr>
        <p:spPr>
          <a:xfrm>
            <a:off x="8046720" y="1645920"/>
            <a:ext cx="3383280" cy="35661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Zero-Grind Pacing</a:t>
            </a:r>
          </a:p>
          <a:p>
            <a:pPr>
              <a:spcAft>
                <a:spcPts val="300"/>
              </a:spcAft>
              <a:defRPr sz="1150">
                <a:solidFill>
                  <a:srgbClr val="F3F4F6"/>
                </a:solidFill>
              </a:defRPr>
            </a:pPr>
            <a:r>
              <a:t>No 20-hour XP grinding.</a:t>
            </a:r>
          </a:p>
          <a:p>
            <a:pPr>
              <a:spcAft>
                <a:spcPts val="300"/>
              </a:spcAft>
              <a:defRPr sz="1150">
                <a:solidFill>
                  <a:srgbClr val="F3F4F6"/>
                </a:solidFill>
              </a:defRPr>
            </a:pPr>
          </a:p>
          <a:p>
            <a:pPr>
              <a:spcAft>
                <a:spcPts val="300"/>
              </a:spcAft>
              <a:defRPr sz="1150">
                <a:solidFill>
                  <a:srgbClr val="F3F4F6"/>
                </a:solidFill>
              </a:defRPr>
            </a:pPr>
            <a:r>
              <a:t>Every skirmish is a tight 10–15 minute spatial challenge.</a:t>
            </a:r>
          </a:p>
          <a:p>
            <a:pPr>
              <a:spcAft>
                <a:spcPts val="300"/>
              </a:spcAft>
              <a:defRPr sz="1150">
                <a:solidFill>
                  <a:srgbClr val="F3F4F6"/>
                </a:solidFill>
              </a:defRPr>
            </a:pPr>
          </a:p>
          <a:p>
            <a:pPr>
              <a:spcAft>
                <a:spcPts val="300"/>
              </a:spcAft>
              <a:defRPr sz="1150">
                <a:solidFill>
                  <a:srgbClr val="F3F4F6"/>
                </a:solidFill>
              </a:defRPr>
            </a:pPr>
            <a:r>
              <a:t>Success is driven by player skill, positioning, and creative terrain combos—never stat checks.</a:t>
            </a:r>
          </a:p>
        </p:txBody>
      </p:sp>
      <p:sp>
        <p:nvSpPr>
          <p:cNvPr id="6" name="Rounded Rectangle 5"/>
          <p:cNvSpPr/>
          <p:nvPr/>
        </p:nvSpPr>
        <p:spPr>
          <a:xfrm>
            <a:off x="731520" y="5440680"/>
            <a:ext cx="10698480" cy="82296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High Replayability</a:t>
            </a:r>
          </a:p>
          <a:p>
            <a:pPr>
              <a:spcAft>
                <a:spcPts val="300"/>
              </a:spcAft>
              <a:defRPr sz="1150">
                <a:solidFill>
                  <a:srgbClr val="F3F4F6"/>
                </a:solidFill>
              </a:defRPr>
            </a:pPr>
            <a:r>
              <a:t>Procedural encounter routes, emergent environmental chemistry, and diverse squad combinations ensure no two runs feel identical.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Market Analysis: Target Audience &amp; Comps</a:t>
            </a:r>
          </a:p>
        </p:txBody>
      </p:sp>
      <p:sp>
        <p:nvSpPr>
          <p:cNvPr id="3" name="Rounded Rectangle 2"/>
          <p:cNvSpPr/>
          <p:nvPr/>
        </p:nvSpPr>
        <p:spPr>
          <a:xfrm>
            <a:off x="731520" y="160020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Brigandine: Runersia (Happinet)</a:t>
            </a:r>
          </a:p>
          <a:p>
            <a:pPr>
              <a:spcAft>
                <a:spcPts val="300"/>
              </a:spcAft>
              <a:defRPr sz="1150">
                <a:solidFill>
                  <a:srgbClr val="F3F4F6"/>
                </a:solidFill>
              </a:defRPr>
            </a:pPr>
            <a:r>
              <a:t>Publisher: Happinet (Very Positive, 1,300+ Steam Reviews)</a:t>
            </a:r>
          </a:p>
          <a:p>
            <a:pPr>
              <a:spcAft>
                <a:spcPts val="300"/>
              </a:spcAft>
              <a:defRPr sz="1150">
                <a:solidFill>
                  <a:srgbClr val="F3F4F6"/>
                </a:solidFill>
              </a:defRPr>
            </a:pPr>
            <a:r>
              <a:t>What Players Love: Deep hex-grid tactics, monster commanding &amp; terrain affinities.</a:t>
            </a:r>
          </a:p>
          <a:p>
            <a:pPr>
              <a:spcAft>
                <a:spcPts val="300"/>
              </a:spcAft>
              <a:defRPr sz="1150">
                <a:solidFill>
                  <a:srgbClr val="F3F4F6"/>
                </a:solidFill>
              </a:defRPr>
            </a:pPr>
            <a:r>
              <a:t>How We Differentiate: Replaces 45-min slow AA battle animations with fast 10-min kinetic skirmishes; transforms passive terrain buffs into Active Terraforming.</a:t>
            </a:r>
          </a:p>
        </p:txBody>
      </p:sp>
      <p:sp>
        <p:nvSpPr>
          <p:cNvPr id="4" name="Rounded Rectangle 3"/>
          <p:cNvSpPr/>
          <p:nvPr/>
        </p:nvSpPr>
        <p:spPr>
          <a:xfrm>
            <a:off x="6217920" y="1600200"/>
            <a:ext cx="5212080" cy="18288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Vanaris Tactics (Toge)</a:t>
            </a:r>
          </a:p>
          <a:p>
            <a:pPr>
              <a:spcAft>
                <a:spcPts val="300"/>
              </a:spcAft>
              <a:defRPr sz="1150">
                <a:solidFill>
                  <a:srgbClr val="F3F4F6"/>
                </a:solidFill>
              </a:defRPr>
            </a:pPr>
            <a:r>
              <a:t>Publisher: Toge Productions (Beloved Retro Tactics)</a:t>
            </a:r>
          </a:p>
          <a:p>
            <a:pPr>
              <a:spcAft>
                <a:spcPts val="300"/>
              </a:spcAft>
              <a:defRPr sz="1150">
                <a:solidFill>
                  <a:srgbClr val="F3F4F6"/>
                </a:solidFill>
              </a:defRPr>
            </a:pPr>
            <a:r>
              <a:t>What Players Love: Classic retro FFT charm, beloved pixel art storytelling.</a:t>
            </a:r>
          </a:p>
          <a:p>
            <a:pPr>
              <a:spcAft>
                <a:spcPts val="300"/>
              </a:spcAft>
              <a:defRPr sz="1150">
                <a:solidFill>
                  <a:srgbClr val="F3F4F6"/>
                </a:solidFill>
              </a:defRPr>
            </a:pPr>
            <a:r>
              <a:t>How We Differentiate: Adds 3D multi-level hex elevations, kinetic shove impact physics, and real-time elemental landscape destruction.</a:t>
            </a:r>
          </a:p>
        </p:txBody>
      </p:sp>
      <p:sp>
        <p:nvSpPr>
          <p:cNvPr id="5" name="Rounded Rectangle 4"/>
          <p:cNvSpPr/>
          <p:nvPr/>
        </p:nvSpPr>
        <p:spPr>
          <a:xfrm>
            <a:off x="731520" y="3566160"/>
            <a:ext cx="5212080" cy="182880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Into the Breach (Subset)</a:t>
            </a:r>
          </a:p>
          <a:p>
            <a:pPr>
              <a:spcAft>
                <a:spcPts val="300"/>
              </a:spcAft>
              <a:defRPr sz="1150">
                <a:solidFill>
                  <a:srgbClr val="F3F4F6"/>
                </a:solidFill>
              </a:defRPr>
            </a:pPr>
            <a:r>
              <a:t>Publisher: Subset Games (Overwhelmingly Positive)</a:t>
            </a:r>
          </a:p>
          <a:p>
            <a:pPr>
              <a:spcAft>
                <a:spcPts val="300"/>
              </a:spcAft>
              <a:defRPr sz="1150">
                <a:solidFill>
                  <a:srgbClr val="F3F4F6"/>
                </a:solidFill>
              </a:defRPr>
            </a:pPr>
            <a:r>
              <a:t>What Players Love: Masterpiece of kinetic knockback puzzles.</a:t>
            </a:r>
          </a:p>
          <a:p>
            <a:pPr>
              <a:spcAft>
                <a:spcPts val="300"/>
              </a:spcAft>
              <a:defRPr sz="1150">
                <a:solidFill>
                  <a:srgbClr val="F3F4F6"/>
                </a:solidFill>
              </a:defRPr>
            </a:pPr>
            <a:r>
              <a:t>How We Differentiate: Marries push puzzles with fantasy RPG squad progression, elevation tiers, and land siphoning for Titan cataclysms.</a:t>
            </a:r>
          </a:p>
        </p:txBody>
      </p:sp>
      <p:sp>
        <p:nvSpPr>
          <p:cNvPr id="6" name="Rounded Rectangle 5"/>
          <p:cNvSpPr/>
          <p:nvPr/>
        </p:nvSpPr>
        <p:spPr>
          <a:xfrm>
            <a:off x="6217920" y="3566160"/>
            <a:ext cx="5212080" cy="182880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Triangle Strategy (Square Enix)</a:t>
            </a:r>
          </a:p>
          <a:p>
            <a:pPr>
              <a:spcAft>
                <a:spcPts val="300"/>
              </a:spcAft>
              <a:defRPr sz="1150">
                <a:solidFill>
                  <a:srgbClr val="F3F4F6"/>
                </a:solidFill>
              </a:defRPr>
            </a:pPr>
            <a:r>
              <a:t>Publisher: Square Enix (HD-2D Tactical RPG)</a:t>
            </a:r>
          </a:p>
          <a:p>
            <a:pPr>
              <a:spcAft>
                <a:spcPts val="300"/>
              </a:spcAft>
              <a:defRPr sz="1150">
                <a:solidFill>
                  <a:srgbClr val="F3F4F6"/>
                </a:solidFill>
              </a:defRPr>
            </a:pPr>
            <a:r>
              <a:t>What Players Love: Modern HD-2D presentation &amp; elemental interactions.</a:t>
            </a:r>
          </a:p>
          <a:p>
            <a:pPr>
              <a:spcAft>
                <a:spcPts val="300"/>
              </a:spcAft>
              <a:defRPr sz="1150">
                <a:solidFill>
                  <a:srgbClr val="F3F4F6"/>
                </a:solidFill>
              </a:defRPr>
            </a:pPr>
            <a:r>
              <a:t>How We Differentiate: Snappy 10-minute skirmishes designed for modern indie players with zero level-grinding and deeper terrain chemistry.</a:t>
            </a:r>
          </a:p>
        </p:txBody>
      </p:sp>
      <p:sp>
        <p:nvSpPr>
          <p:cNvPr id="7" name="Rounded Rectangle 6"/>
          <p:cNvSpPr/>
          <p:nvPr/>
        </p:nvSpPr>
        <p:spPr>
          <a:xfrm>
            <a:off x="731520" y="5532120"/>
            <a:ext cx="10698480" cy="77724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The Market Opportunity</a:t>
            </a:r>
          </a:p>
          <a:p>
            <a:pPr>
              <a:spcAft>
                <a:spcPts val="300"/>
              </a:spcAft>
              <a:defRPr sz="1150">
                <a:solidFill>
                  <a:srgbClr val="F3F4F6"/>
                </a:solidFill>
              </a:defRPr>
            </a:pPr>
            <a:r>
              <a:t>Players love Brigandine's hex-grid monster fantasy and Into the Breach's puzzle clarity—Elemental Hex Tactics marries both into snappy 10-minute HD-2D matches with active terraforming.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ART DIRECTION &amp; PRODUCTION BENCHMARK</a:t>
            </a:r>
          </a:p>
          <a:p>
            <a:pPr>
              <a:defRPr sz="2400" b="1">
                <a:solidFill>
                  <a:srgbClr val="F3F4F6"/>
                </a:solidFill>
              </a:defRPr>
            </a:pPr>
            <a:r>
              <a:t>Visual Target: HD-2D Aesthetic &amp; Reference Pipeline</a:t>
            </a:r>
          </a:p>
        </p:txBody>
      </p:sp>
      <p:sp>
        <p:nvSpPr>
          <p:cNvPr id="3" name="Rounded Rectangle 2"/>
          <p:cNvSpPr/>
          <p:nvPr/>
        </p:nvSpPr>
        <p:spPr>
          <a:xfrm>
            <a:off x="731520" y="1645920"/>
            <a:ext cx="5303520" cy="22402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Visual Target: HD-2D Aesthetic</a:t>
            </a:r>
          </a:p>
          <a:p>
            <a:pPr>
              <a:spcAft>
                <a:spcPts val="300"/>
              </a:spcAft>
              <a:defRPr sz="1150">
                <a:solidFill>
                  <a:srgbClr val="F3F4F6"/>
                </a:solidFill>
              </a:defRPr>
            </a:pPr>
            <a:r>
              <a:t>• Atmosphere &amp; Lighting: Triangle Strategy tilt-shift depth-of-field, dynamic real-time shadows, and glowing emissive lava veins.</a:t>
            </a:r>
          </a:p>
          <a:p>
            <a:pPr>
              <a:spcAft>
                <a:spcPts val="300"/>
              </a:spcAft>
              <a:defRPr sz="1150">
                <a:solidFill>
                  <a:srgbClr val="F3F4F6"/>
                </a:solidFill>
              </a:defRPr>
            </a:pPr>
            <a:r>
              <a:t>• Silhouettes: Final Fantasy Tactics / Tactics Ogre standees.</a:t>
            </a:r>
          </a:p>
          <a:p>
            <a:pPr>
              <a:spcAft>
                <a:spcPts val="300"/>
              </a:spcAft>
              <a:defRPr sz="1150">
                <a:solidFill>
                  <a:srgbClr val="F3F4F6"/>
                </a:solidFill>
              </a:defRPr>
            </a:pPr>
            <a:r>
              <a:t>• Palette: Vanaris Tactics rich fantasy environmental tones.</a:t>
            </a:r>
          </a:p>
        </p:txBody>
      </p:sp>
      <p:sp>
        <p:nvSpPr>
          <p:cNvPr id="4" name="Rounded Rectangle 3"/>
          <p:cNvSpPr/>
          <p:nvPr/>
        </p:nvSpPr>
        <p:spPr>
          <a:xfrm>
            <a:off x="731520" y="4160520"/>
            <a:ext cx="5303520" cy="210312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Sprite Animation Framework (Lean &amp; Viable)</a:t>
            </a:r>
          </a:p>
          <a:p>
            <a:pPr>
              <a:spcAft>
                <a:spcPts val="300"/>
              </a:spcAft>
              <a:defRPr sz="1150">
                <a:solidFill>
                  <a:srgbClr val="F3F4F6"/>
                </a:solidFill>
              </a:defRPr>
            </a:pPr>
            <a:r>
              <a:t>• Format: 2-Directional Isometric Standees (Front &amp; Back-Quarter, like Disgaea &amp; Ragnarok Online).</a:t>
            </a:r>
          </a:p>
          <a:p>
            <a:pPr>
              <a:spcAft>
                <a:spcPts val="300"/>
              </a:spcAft>
              <a:defRPr sz="1150">
                <a:solidFill>
                  <a:srgbClr val="F3F4F6"/>
                </a:solidFill>
              </a:defRPr>
            </a:pPr>
            <a:r>
              <a:t>• Snappy Retro Loops: 3-frame combat loops (Idle, Hop, Attack, Hurt).</a:t>
            </a:r>
          </a:p>
          <a:p>
            <a:pPr>
              <a:spcAft>
                <a:spcPts val="300"/>
              </a:spcAft>
              <a:defRPr sz="1150">
                <a:solidFill>
                  <a:srgbClr val="F3F4F6"/>
                </a:solidFill>
              </a:defRPr>
            </a:pPr>
            <a:r>
              <a:t>• Mathematical Sanity: 6 classes x 2 dirs x 10 keyframes = ~120 frames total. Highly viable for $1,200 ($200/class).</a:t>
            </a:r>
          </a:p>
        </p:txBody>
      </p:sp>
      <p:pic>
        <p:nvPicPr>
          <p:cNvPr id="5" name="Picture 4" descr="slide9_visual_benchmark.png"/>
          <p:cNvPicPr>
            <a:picLocks noChangeAspect="1"/>
          </p:cNvPicPr>
          <p:nvPr/>
        </p:nvPicPr>
        <p:blipFill>
          <a:blip r:embed="rId2"/>
          <a:stretch>
            <a:fillRect/>
          </a:stretch>
        </p:blipFill>
        <p:spPr>
          <a:xfrm>
            <a:off x="6400800" y="1463040"/>
            <a:ext cx="4214191" cy="48463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Production Roadmap: 6 Months to Steam Demo</a:t>
            </a:r>
          </a:p>
        </p:txBody>
      </p:sp>
      <p:sp>
        <p:nvSpPr>
          <p:cNvPr id="3" name="Rounded Rectangle 2"/>
          <p:cNvSpPr/>
          <p:nvPr/>
        </p:nvSpPr>
        <p:spPr>
          <a:xfrm>
            <a:off x="7315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1–2: Art Commissions &amp; Sprites</a:t>
            </a:r>
          </a:p>
          <a:p>
            <a:pPr>
              <a:spcAft>
                <a:spcPts val="300"/>
              </a:spcAft>
              <a:defRPr sz="1150">
                <a:solidFill>
                  <a:srgbClr val="F3F4F6"/>
                </a:solidFill>
              </a:defRPr>
            </a:pPr>
            <a:r>
              <a:t>Commission freelance pixel artist for 2-directional animated sprite sheets (6 classes) and high-res character portrait illustrations.</a:t>
            </a:r>
          </a:p>
          <a:p>
            <a:pPr>
              <a:spcAft>
                <a:spcPts val="300"/>
              </a:spcAft>
              <a:defRPr sz="1150">
                <a:solidFill>
                  <a:srgbClr val="F3F4F6"/>
                </a:solidFill>
              </a:defRPr>
            </a:pPr>
          </a:p>
          <a:p>
            <a:pPr>
              <a:spcAft>
                <a:spcPts val="300"/>
              </a:spcAft>
              <a:defRPr sz="1150">
                <a:solidFill>
                  <a:srgbClr val="F3F4F6"/>
                </a:solidFill>
              </a:defRPr>
            </a:pPr>
            <a:r>
              <a:t>Implement sprite animation state controller.</a:t>
            </a:r>
          </a:p>
        </p:txBody>
      </p:sp>
      <p:sp>
        <p:nvSpPr>
          <p:cNvPr id="4" name="Rounded Rectangle 3"/>
          <p:cNvSpPr/>
          <p:nvPr/>
        </p:nvSpPr>
        <p:spPr>
          <a:xfrm>
            <a:off x="6217920" y="1645920"/>
            <a:ext cx="5212080" cy="2194560"/>
          </a:xfrm>
          <a:prstGeom prst="roundRect">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3: New Biomes &amp; Mechanics</a:t>
            </a:r>
          </a:p>
          <a:p>
            <a:pPr>
              <a:spcAft>
                <a:spcPts val="300"/>
              </a:spcAft>
              <a:defRPr sz="1150">
                <a:solidFill>
                  <a:srgbClr val="F3F4F6"/>
                </a:solidFill>
              </a:defRPr>
            </a:pPr>
            <a:r>
              <a:t>Implement Glacial Peak (ice slide shove physics) and Conductive Marsh (water + lightning chain electrocution).</a:t>
            </a:r>
          </a:p>
          <a:p>
            <a:pPr>
              <a:spcAft>
                <a:spcPts val="300"/>
              </a:spcAft>
              <a:defRPr sz="1150">
                <a:solidFill>
                  <a:srgbClr val="F3F4F6"/>
                </a:solidFill>
              </a:defRPr>
            </a:pPr>
          </a:p>
          <a:p>
            <a:pPr>
              <a:spcAft>
                <a:spcPts val="300"/>
              </a:spcAft>
              <a:defRPr sz="1150">
                <a:solidFill>
                  <a:srgbClr val="F3F4F6"/>
                </a:solidFill>
              </a:defRPr>
            </a:pPr>
            <a:r>
              <a:t>Expand elemental interactions matrix.</a:t>
            </a:r>
          </a:p>
        </p:txBody>
      </p:sp>
      <p:sp>
        <p:nvSpPr>
          <p:cNvPr id="5" name="Rounded Rectangle 4"/>
          <p:cNvSpPr/>
          <p:nvPr/>
        </p:nvSpPr>
        <p:spPr>
          <a:xfrm>
            <a:off x="731520" y="4069080"/>
            <a:ext cx="5212080" cy="201168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Month 4: Campaign Map &amp; Smart AI</a:t>
            </a:r>
          </a:p>
          <a:p>
            <a:pPr>
              <a:spcAft>
                <a:spcPts val="300"/>
              </a:spcAft>
              <a:defRPr sz="1150">
                <a:solidFill>
                  <a:srgbClr val="F3F4F6"/>
                </a:solidFill>
              </a:defRPr>
            </a:pPr>
            <a:r>
              <a:t>Build node-based world map progression and enhance enemy AI (flanking, hazard evasion, and tactical retreating).</a:t>
            </a:r>
          </a:p>
          <a:p>
            <a:pPr>
              <a:spcAft>
                <a:spcPts val="300"/>
              </a:spcAft>
              <a:defRPr sz="1150">
                <a:solidFill>
                  <a:srgbClr val="F3F4F6"/>
                </a:solidFill>
              </a:defRPr>
            </a:pPr>
          </a:p>
          <a:p>
            <a:pPr>
              <a:spcAft>
                <a:spcPts val="300"/>
              </a:spcAft>
              <a:defRPr sz="1150">
                <a:solidFill>
                  <a:srgbClr val="F3F4F6"/>
                </a:solidFill>
              </a:defRPr>
            </a:pPr>
            <a:r>
              <a:t>Balance difficulty pacing.</a:t>
            </a:r>
          </a:p>
        </p:txBody>
      </p:sp>
      <p:sp>
        <p:nvSpPr>
          <p:cNvPr id="6" name="Rounded Rectangle 5"/>
          <p:cNvSpPr/>
          <p:nvPr/>
        </p:nvSpPr>
        <p:spPr>
          <a:xfrm>
            <a:off x="6217920" y="4069080"/>
            <a:ext cx="5212080" cy="201168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Month 5–6: Steam Demo &amp; Next Fest</a:t>
            </a:r>
          </a:p>
          <a:p>
            <a:pPr>
              <a:spcAft>
                <a:spcPts val="300"/>
              </a:spcAft>
              <a:defRPr sz="1150">
                <a:solidFill>
                  <a:srgbClr val="F3F4F6"/>
                </a:solidFill>
              </a:defRPr>
            </a:pPr>
            <a:r>
              <a:t>Commission OST battle themes, polish UI/audio, and release a public 30-minute playable demo for Steam Next Fest.</a:t>
            </a:r>
          </a:p>
          <a:p>
            <a:pPr>
              <a:spcAft>
                <a:spcPts val="300"/>
              </a:spcAft>
              <a:defRPr sz="1150">
                <a:solidFill>
                  <a:srgbClr val="F3F4F6"/>
                </a:solidFill>
              </a:defRPr>
            </a:pPr>
          </a:p>
          <a:p>
            <a:pPr>
              <a:spcAft>
                <a:spcPts val="300"/>
              </a:spcAft>
              <a:defRPr sz="1150">
                <a:solidFill>
                  <a:srgbClr val="F3F4F6"/>
                </a:solidFill>
              </a:defRPr>
            </a:pPr>
            <a:r>
              <a:t>Open commercial publisher negotiations.</a:t>
            </a:r>
          </a:p>
        </p:txBody>
      </p:sp>
      <p:sp>
        <p:nvSpPr>
          <p:cNvPr id="7" name="Rounded Rectangle 6"/>
          <p:cNvSpPr/>
          <p:nvPr/>
        </p:nvSpPr>
        <p:spPr>
          <a:xfrm>
            <a:off x="731520" y="5532120"/>
            <a:ext cx="10698480" cy="73152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Execution Risk = Near Zero</a:t>
            </a:r>
          </a:p>
          <a:p>
            <a:pPr>
              <a:spcAft>
                <a:spcPts val="300"/>
              </a:spcAft>
              <a:defRPr sz="1150">
                <a:solidFill>
                  <a:srgbClr val="F3F4F6"/>
                </a:solidFill>
              </a:defRPr>
            </a:pPr>
            <a:r>
              <a:t>Core engine, hex grid math, kinetic displacement, and land-siphoning loops are ALREADY complete (Month 0). Months 1–6 are strictly for content, art pipeline, and AI tuning.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defRPr sz="1100" b="1">
                <a:solidFill>
                  <a:srgbClr val="06B6D4"/>
                </a:solidFill>
              </a:defRPr>
            </a:pPr>
            <a:r>
              <a:t>TOGE GAME FUND INITIATIVE (TGFI) PITCH</a:t>
            </a:r>
          </a:p>
          <a:p>
            <a:pPr>
              <a:defRPr sz="2400" b="1">
                <a:solidFill>
                  <a:srgbClr val="F3F4F6"/>
                </a:solidFill>
              </a:defRPr>
            </a:pPr>
            <a:r>
              <a:t>The Ask: $6,000 USD Lean Budget (~Rp 93 Juta)</a:t>
            </a:r>
          </a:p>
        </p:txBody>
      </p:sp>
      <p:sp>
        <p:nvSpPr>
          <p:cNvPr id="3" name="Rounded Rectangle 2"/>
          <p:cNvSpPr/>
          <p:nvPr/>
        </p:nvSpPr>
        <p:spPr>
          <a:xfrm>
            <a:off x="731520" y="1645920"/>
            <a:ext cx="5669280" cy="4663440"/>
          </a:xfrm>
          <a:prstGeom prst="roundRect">
            <a:avLst/>
          </a:prstGeom>
          <a:solidFill>
            <a:srgbClr val="161B22"/>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10B981"/>
                </a:solidFill>
              </a:defRPr>
            </a:pPr>
            <a:r>
              <a:t>💰 High-Approval Budget Allocation</a:t>
            </a:r>
          </a:p>
          <a:p>
            <a:pPr>
              <a:spcAft>
                <a:spcPts val="300"/>
              </a:spcAft>
              <a:defRPr sz="1150">
                <a:solidFill>
                  <a:srgbClr val="F3F4F6"/>
                </a:solidFill>
              </a:defRPr>
            </a:pPr>
            <a:r>
              <a:t>• [60%] Solo Dev Living Runway (6 Mos @ $600/mo): $3,600</a:t>
            </a:r>
          </a:p>
          <a:p>
            <a:pPr>
              <a:spcAft>
                <a:spcPts val="300"/>
              </a:spcAft>
              <a:defRPr sz="1150">
                <a:solidFill>
                  <a:srgbClr val="F3F4F6"/>
                </a:solidFill>
              </a:defRPr>
            </a:pPr>
            <a:r>
              <a:t>  (~Rp 9.300.000/month living runway to work full-time)</a:t>
            </a:r>
          </a:p>
          <a:p>
            <a:pPr>
              <a:spcAft>
                <a:spcPts val="300"/>
              </a:spcAft>
              <a:defRPr sz="1150">
                <a:solidFill>
                  <a:srgbClr val="F3F4F6"/>
                </a:solidFill>
              </a:defRPr>
            </a:pPr>
          </a:p>
          <a:p>
            <a:pPr>
              <a:spcAft>
                <a:spcPts val="300"/>
              </a:spcAft>
              <a:defRPr sz="1150">
                <a:solidFill>
                  <a:srgbClr val="F3F4F6"/>
                </a:solidFill>
              </a:defRPr>
            </a:pPr>
            <a:r>
              <a:t>• [20%] Core Character Sprite Pipeline (Demo Milestone): $1,200</a:t>
            </a:r>
          </a:p>
          <a:p>
            <a:pPr>
              <a:spcAft>
                <a:spcPts val="300"/>
              </a:spcAft>
              <a:defRPr sz="1150">
                <a:solidFill>
                  <a:srgbClr val="F3F4F6"/>
                </a:solidFill>
              </a:defRPr>
            </a:pPr>
            <a:r>
              <a:t>  (6 foundational classes with 2-dir retro loops; scalable to 20+ classes upon full publishing deal)</a:t>
            </a:r>
          </a:p>
          <a:p>
            <a:pPr>
              <a:spcAft>
                <a:spcPts val="300"/>
              </a:spcAft>
              <a:defRPr sz="1150">
                <a:solidFill>
                  <a:srgbClr val="F3F4F6"/>
                </a:solidFill>
              </a:defRPr>
            </a:pPr>
          </a:p>
          <a:p>
            <a:pPr>
              <a:spcAft>
                <a:spcPts val="300"/>
              </a:spcAft>
              <a:defRPr sz="1150">
                <a:solidFill>
                  <a:srgbClr val="F3F4F6"/>
                </a:solidFill>
              </a:defRPr>
            </a:pPr>
            <a:r>
              <a:t>• [10%] Original Tactical Soundtrack Commission: $600</a:t>
            </a:r>
          </a:p>
          <a:p>
            <a:pPr>
              <a:spcAft>
                <a:spcPts val="300"/>
              </a:spcAft>
              <a:defRPr sz="1150">
                <a:solidFill>
                  <a:srgbClr val="F3F4F6"/>
                </a:solidFill>
              </a:defRPr>
            </a:pPr>
            <a:r>
              <a:t>  (2 tactical battle themes by an indie composer)</a:t>
            </a:r>
          </a:p>
          <a:p>
            <a:pPr>
              <a:spcAft>
                <a:spcPts val="300"/>
              </a:spcAft>
              <a:defRPr sz="1150">
                <a:solidFill>
                  <a:srgbClr val="F3F4F6"/>
                </a:solidFill>
              </a:defRPr>
            </a:pPr>
          </a:p>
          <a:p>
            <a:pPr>
              <a:spcAft>
                <a:spcPts val="300"/>
              </a:spcAft>
              <a:defRPr sz="1150">
                <a:solidFill>
                  <a:srgbClr val="F3F4F6"/>
                </a:solidFill>
              </a:defRPr>
            </a:pPr>
            <a:r>
              <a:t>• [10%] Steam Listing Fee &amp; Unity Editor Tools: $600</a:t>
            </a:r>
          </a:p>
          <a:p>
            <a:pPr>
              <a:spcAft>
                <a:spcPts val="300"/>
              </a:spcAft>
              <a:defRPr sz="1150">
                <a:solidFill>
                  <a:srgbClr val="F3F4F6"/>
                </a:solidFill>
              </a:defRPr>
            </a:pPr>
            <a:r>
              <a:t>  ($100 Steam fee + essential editor productivity tools)</a:t>
            </a:r>
          </a:p>
          <a:p>
            <a:pPr>
              <a:spcAft>
                <a:spcPts val="300"/>
              </a:spcAft>
              <a:defRPr sz="1150">
                <a:solidFill>
                  <a:srgbClr val="F3F4F6"/>
                </a:solidFill>
              </a:defRPr>
            </a:pPr>
          </a:p>
          <a:p>
            <a:pPr>
              <a:spcAft>
                <a:spcPts val="300"/>
              </a:spcAft>
              <a:defRPr sz="1150">
                <a:solidFill>
                  <a:srgbClr val="F3F4F6"/>
                </a:solidFill>
              </a:defRPr>
            </a:pPr>
            <a:r>
              <a:t>TOTAL REQUESTED: $6,000 USD (~Rp 93.000.000)</a:t>
            </a:r>
          </a:p>
        </p:txBody>
      </p:sp>
      <p:sp>
        <p:nvSpPr>
          <p:cNvPr id="4" name="Rounded Rectangle 3"/>
          <p:cNvSpPr/>
          <p:nvPr/>
        </p:nvSpPr>
        <p:spPr>
          <a:xfrm>
            <a:off x="6675120" y="1645920"/>
            <a:ext cx="4754880" cy="2743200"/>
          </a:xfrm>
          <a:prstGeom prst="roundRect">
            <a:avLst/>
          </a:prstGeom>
          <a:solidFill>
            <a:srgbClr val="161B22"/>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F59E0B"/>
                </a:solidFill>
              </a:defRPr>
            </a:pPr>
            <a:r>
              <a:t>👤 Developer Profile</a:t>
            </a:r>
          </a:p>
          <a:p>
            <a:pPr>
              <a:spcAft>
                <a:spcPts val="300"/>
              </a:spcAft>
              <a:defRPr sz="1150">
                <a:solidFill>
                  <a:srgbClr val="F3F4F6"/>
                </a:solidFill>
              </a:defRPr>
            </a:pPr>
            <a:r>
              <a:t>Developer: Elang Esa Yudhistira</a:t>
            </a:r>
          </a:p>
          <a:p>
            <a:pPr>
              <a:spcAft>
                <a:spcPts val="300"/>
              </a:spcAft>
              <a:defRPr sz="1150">
                <a:solidFill>
                  <a:srgbClr val="F3F4F6"/>
                </a:solidFill>
              </a:defRPr>
            </a:pPr>
            <a:r>
              <a:t>Role: Solo Game Designer &amp; Lead Programmer</a:t>
            </a:r>
          </a:p>
          <a:p>
            <a:pPr>
              <a:spcAft>
                <a:spcPts val="300"/>
              </a:spcAft>
              <a:defRPr sz="1150">
                <a:solidFill>
                  <a:srgbClr val="F3F4F6"/>
                </a:solidFill>
              </a:defRPr>
            </a:pPr>
            <a:r>
              <a:t>Location: Indonesia 🇮🇩</a:t>
            </a:r>
          </a:p>
          <a:p>
            <a:pPr>
              <a:spcAft>
                <a:spcPts val="300"/>
              </a:spcAft>
              <a:defRPr sz="1150">
                <a:solidFill>
                  <a:srgbClr val="F3F4F6"/>
                </a:solidFill>
              </a:defRPr>
            </a:pPr>
            <a:r>
              <a:t>Portfolio: https://nealverse.itch.io</a:t>
            </a:r>
          </a:p>
          <a:p>
            <a:pPr>
              <a:spcAft>
                <a:spcPts val="300"/>
              </a:spcAft>
              <a:defRPr sz="1150">
                <a:solidFill>
                  <a:srgbClr val="F3F4F6"/>
                </a:solidFill>
              </a:defRPr>
            </a:pPr>
            <a:r>
              <a:t>Email: yelangesa@gmail.com</a:t>
            </a:r>
          </a:p>
          <a:p>
            <a:pPr>
              <a:spcAft>
                <a:spcPts val="300"/>
              </a:spcAft>
              <a:defRPr sz="1150">
                <a:solidFill>
                  <a:srgbClr val="F3F4F6"/>
                </a:solidFill>
              </a:defRPr>
            </a:pPr>
            <a:r>
              <a:t>Demo: Standalone Windows Executable (.exe)</a:t>
            </a:r>
          </a:p>
        </p:txBody>
      </p:sp>
      <p:sp>
        <p:nvSpPr>
          <p:cNvPr id="5" name="Rounded Rectangle 4"/>
          <p:cNvSpPr/>
          <p:nvPr/>
        </p:nvSpPr>
        <p:spPr>
          <a:xfrm>
            <a:off x="6675120" y="4572000"/>
            <a:ext cx="4754880" cy="1737360"/>
          </a:xfrm>
          <a:prstGeom prst="roundRect">
            <a:avLst/>
          </a:prstGeom>
          <a:solidFill>
            <a:srgbClr val="161B22"/>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500"/>
              </a:spcAft>
              <a:defRPr b="1" sz="1350">
                <a:solidFill>
                  <a:srgbClr val="06B6D4"/>
                </a:solidFill>
              </a:defRPr>
            </a:pPr>
            <a:r>
              <a:t>🤝 Milestone Tracking &amp; Next Stage</a:t>
            </a:r>
          </a:p>
          <a:p>
            <a:pPr>
              <a:spcAft>
                <a:spcPts val="300"/>
              </a:spcAft>
              <a:defRPr sz="1150">
                <a:solidFill>
                  <a:srgbClr val="F3F4F6"/>
                </a:solidFill>
              </a:defRPr>
            </a:pPr>
            <a:r>
              <a:t>• Accountability: Bi-weekly playable builds uploaded to private itch.io / GitHub milestone branches for Toge review.</a:t>
            </a:r>
          </a:p>
          <a:p>
            <a:pPr>
              <a:spcAft>
                <a:spcPts val="300"/>
              </a:spcAft>
              <a:defRPr sz="1150">
                <a:solidFill>
                  <a:srgbClr val="F3F4F6"/>
                </a:solidFill>
              </a:defRPr>
            </a:pPr>
            <a:r>
              <a:t>• Full Commercial Vision: TGFI demo proves Steam retention, laying the groundwork for a full $50k-$150k commercial publishing partnership with Toge (20+ classes &amp; full campaign).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