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Kris and the Toge team, I'm Elang, a solo indie developer from Indonesia. Today I'm pitching Elemental Hex Tactics, a 2.5D tactical RPG inspired by Brigandine and Final Fantasy Tactics, where players directly command both human Masters and monster cohorts while terraforming the board as an interactive weapon.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one-page executive summary covering high concept, genre, key features, target audience, and business model. This proves our product scope is clear, commercial, and realistic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combines our target persona, the two major SRPG frustrations we solve with Ghost UI and Hybrid Spells, and our benchmark matrix against Brigandine, Vanaris, Into the Breach, and Triangle Strategy.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delivers the complete product solution: our 3-Step core loop, our verified Month 0 working prototype in Unity 6, and our 3-part visual progression panel showing Prototype, Brigandine reference, and the HD-2D visual benchmark.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covers our execution plan: a 6-month roadmap leading to a public Steam Next Fest demo, backed by a disciplined $6,000 budget where $3,600 covers my living costs in Indonesia and $2,400 covers art, music, and Steam fees.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outlines our ask: $6,000 in prototype grant funding and production mentorship, in exchange for transparent milestones and Right of First Refusal for a full publishing deal.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Kris and the Toge team for your time and consideration. You can play the standalone Windows demo today and reach me at yelangesa@gmail.com.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1005840"/>
            <a:ext cx="5669280" cy="5303520"/>
          </a:xfrm>
          <a:prstGeom prst="rect">
            <a:avLst/>
          </a:prstGeom>
          <a:noFill/>
        </p:spPr>
        <p:txBody>
          <a:bodyPr wrap="square">
            <a:spAutoFit/>
          </a:bodyPr>
          <a:lstStyle/>
          <a:p>
            <a:pPr>
              <a:defRPr sz="1200" b="1">
                <a:solidFill>
                  <a:srgbClr val="06B6D4"/>
                </a:solidFill>
              </a:defRPr>
            </a:pPr>
            <a:r>
              <a:t>TOGE GAME FUND INITIATIVE (TGFI) PITCH</a:t>
            </a:r>
          </a:p>
          <a:p>
            <a:pPr>
              <a:spcAft>
                <a:spcPts val="600"/>
              </a:spcAft>
              <a:defRPr sz="3600" b="1">
                <a:solidFill>
                  <a:srgbClr val="F59E0B"/>
                </a:solidFill>
              </a:defRPr>
            </a:pPr>
            <a:r>
              <a:t>ELEMENTAL HEX TACTICS</a:t>
            </a:r>
          </a:p>
          <a:p>
            <a:pPr>
              <a:spcAft>
                <a:spcPts val="1200"/>
              </a:spcAft>
              <a:defRPr sz="1800" b="1">
                <a:solidFill>
                  <a:srgbClr val="06B6D4"/>
                </a:solidFill>
              </a:defRPr>
            </a:pPr>
            <a:r>
              <a:t>"Brigandine meets Final Fantasy Tactics"</a:t>
            </a:r>
          </a:p>
          <a:p>
            <a:pPr>
              <a:spcAft>
                <a:spcPts val="1800"/>
              </a:spcAft>
              <a:defRPr sz="1300">
                <a:solidFill>
                  <a:srgbClr val="F3F4F6"/>
                </a:solidFill>
              </a:defRPr>
            </a:pPr>
            <a:r>
              <a:t>A rich, streamlined 2.5D tactical RPG where players directly command both Human Masters and colossal Monsters. Reshape 3D terrain with elemental magic, shove enemies into hazards, and harvest the land to unleash devastating Titan Cataclysms.</a:t>
            </a:r>
          </a:p>
          <a:p>
            <a:pPr>
              <a:defRPr sz="1200">
                <a:solidFill>
                  <a:srgbClr val="9CA3AF"/>
                </a:solidFill>
              </a:defRPr>
            </a:pPr>
            <a:r>
              <a:t>👤 Developer: Elang Esa Yudhistira (Solo Indie Dev)</a:t>
            </a:r>
            <a:br/>
            <a:r>
              <a:t>📍 Location: Indonesia 🇮🇩</a:t>
            </a:r>
            <a:br/>
            <a:r>
              <a:t>🌐 Portfolio: https://nealverse.itch.io</a:t>
            </a:r>
            <a:br/>
            <a:r>
              <a:t>✉️ Email: yelangesa@gmail.com</a:t>
            </a:r>
            <a:br/>
            <a:r>
              <a:t>⚙️ Engine: Unity 6 (URP 3D)</a:t>
            </a:r>
            <a:br/>
            <a:r>
              <a:t>🎮 Playable Prototype: Standalone Windows .exe Ready</a:t>
            </a:r>
          </a:p>
        </p:txBody>
      </p:sp>
      <p:pic>
        <p:nvPicPr>
          <p:cNvPr id="3" name="Picture 2" descr="gameplay_action.png"/>
          <p:cNvPicPr>
            <a:picLocks noChangeAspect="1"/>
          </p:cNvPicPr>
          <p:nvPr/>
        </p:nvPicPr>
        <p:blipFill>
          <a:blip r:embed="rId2"/>
          <a:stretch>
            <a:fillRect/>
          </a:stretch>
        </p:blipFill>
        <p:spPr>
          <a:xfrm>
            <a:off x="6583680" y="1005840"/>
            <a:ext cx="4846320" cy="2735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411480"/>
            <a:ext cx="10698480" cy="1005840"/>
          </a:xfrm>
          <a:prstGeom prst="rect">
            <a:avLst/>
          </a:prstGeom>
          <a:noFill/>
        </p:spPr>
        <p:txBody>
          <a:bodyPr wrap="square" lIns="0" tIns="0" rIns="0" bIns="0">
            <a:spAutoFit/>
          </a:bodyPr>
          <a:lstStyle/>
          <a:p>
            <a:pPr>
              <a:defRPr sz="1100" b="1">
                <a:solidFill>
                  <a:srgbClr val="06B6D4"/>
                </a:solidFill>
              </a:defRPr>
            </a:pPr>
            <a:r>
              <a:t>TGFI PITCH SECTION 2: EXECUTIVE SUMMARY</a:t>
            </a:r>
          </a:p>
          <a:p>
            <a:pPr>
              <a:defRPr sz="2400" b="1">
                <a:solidFill>
                  <a:srgbClr val="F3F4F6"/>
                </a:solidFill>
              </a:defRPr>
            </a:pPr>
            <a:r>
              <a:t>TL;DR Overview: One-Page Executive Summary</a:t>
            </a:r>
          </a:p>
        </p:txBody>
      </p:sp>
      <p:sp>
        <p:nvSpPr>
          <p:cNvPr id="3" name="Rounded Rectangle 2"/>
          <p:cNvSpPr/>
          <p:nvPr/>
        </p:nvSpPr>
        <p:spPr>
          <a:xfrm>
            <a:off x="731520" y="1645920"/>
            <a:ext cx="5212080" cy="4663440"/>
          </a:xfrm>
          <a:prstGeom prst="roundRect">
            <a:avLst/>
          </a:prstGeom>
          <a:solidFill>
            <a:srgbClr val="161B22"/>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06B6D4"/>
                </a:solidFill>
              </a:defRPr>
            </a:pPr>
            <a:r>
              <a:t>🎮 High Concept &amp; Gameplay Pillars</a:t>
            </a:r>
          </a:p>
          <a:p>
            <a:pPr>
              <a:spcAft>
                <a:spcPts val="250"/>
              </a:spcAft>
              <a:defRPr sz="1100">
                <a:solidFill>
                  <a:srgbClr val="F3F4F6"/>
                </a:solidFill>
              </a:defRPr>
            </a:pPr>
            <a:r>
              <a:t>• High Concept:</a:t>
            </a:r>
          </a:p>
          <a:p>
            <a:pPr>
              <a:spcAft>
                <a:spcPts val="250"/>
              </a:spcAft>
              <a:defRPr sz="1100">
                <a:solidFill>
                  <a:srgbClr val="F3F4F6"/>
                </a:solidFill>
              </a:defRPr>
            </a:pPr>
            <a:r>
              <a:t>  A streamlined 2.5D tactical RPG where players command both Human Masters and colossal Monsters, terraforming 3D hex terrain with elemental magic to fuel Titan Cataclysms.</a:t>
            </a:r>
          </a:p>
          <a:p>
            <a:pPr>
              <a:spcAft>
                <a:spcPts val="250"/>
              </a:spcAft>
              <a:defRPr sz="1100">
                <a:solidFill>
                  <a:srgbClr val="F3F4F6"/>
                </a:solidFill>
              </a:defRPr>
            </a:pPr>
          </a:p>
          <a:p>
            <a:pPr>
              <a:spcAft>
                <a:spcPts val="250"/>
              </a:spcAft>
              <a:defRPr sz="1100">
                <a:solidFill>
                  <a:srgbClr val="F3F4F6"/>
                </a:solidFill>
              </a:defRPr>
            </a:pPr>
            <a:r>
              <a:t>• Genre &amp; Engine:</a:t>
            </a:r>
          </a:p>
          <a:p>
            <a:pPr>
              <a:spcAft>
                <a:spcPts val="250"/>
              </a:spcAft>
              <a:defRPr sz="1100">
                <a:solidFill>
                  <a:srgbClr val="F3F4F6"/>
                </a:solidFill>
              </a:defRPr>
            </a:pPr>
            <a:r>
              <a:t>  2.5D Turn-Based Tactical RPG (Hex Grid) | Unity 6 URP 3D</a:t>
            </a:r>
          </a:p>
          <a:p>
            <a:pPr>
              <a:spcAft>
                <a:spcPts val="250"/>
              </a:spcAft>
              <a:defRPr sz="1100">
                <a:solidFill>
                  <a:srgbClr val="F3F4F6"/>
                </a:solidFill>
              </a:defRPr>
            </a:pPr>
          </a:p>
          <a:p>
            <a:pPr>
              <a:spcAft>
                <a:spcPts val="250"/>
              </a:spcAft>
              <a:defRPr sz="1100">
                <a:solidFill>
                  <a:srgbClr val="F3F4F6"/>
                </a:solidFill>
              </a:defRPr>
            </a:pPr>
            <a:r>
              <a:t>• Core Gameplay Experience:</a:t>
            </a:r>
          </a:p>
          <a:p>
            <a:pPr>
              <a:spcAft>
                <a:spcPts val="250"/>
              </a:spcAft>
              <a:defRPr sz="1100">
                <a:solidFill>
                  <a:srgbClr val="F3F4F6"/>
                </a:solidFill>
              </a:defRPr>
            </a:pPr>
            <a:r>
              <a:t>  Deliberate turn-based tactical maneuvering without filler turns. Masters reshape terrain and push enemies, while Monsters hold the frontline and siphon land for ultimate abilities.</a:t>
            </a:r>
          </a:p>
          <a:p>
            <a:pPr>
              <a:spcAft>
                <a:spcPts val="250"/>
              </a:spcAft>
              <a:defRPr sz="1100">
                <a:solidFill>
                  <a:srgbClr val="F3F4F6"/>
                </a:solidFill>
              </a:defRPr>
            </a:pPr>
          </a:p>
          <a:p>
            <a:pPr>
              <a:spcAft>
                <a:spcPts val="250"/>
              </a:spcAft>
              <a:defRPr sz="1100">
                <a:solidFill>
                  <a:srgbClr val="F3F4F6"/>
                </a:solidFill>
              </a:defRPr>
            </a:pPr>
            <a:r>
              <a:t>• Key Features:</a:t>
            </a:r>
          </a:p>
          <a:p>
            <a:pPr>
              <a:spcAft>
                <a:spcPts val="250"/>
              </a:spcAft>
              <a:defRPr sz="1100">
                <a:solidFill>
                  <a:srgbClr val="F3F4F6"/>
                </a:solidFill>
              </a:defRPr>
            </a:pPr>
            <a:r>
              <a:t>  1. Offensive 3D Terraforming (Lava moats, steam clouds, ice bridges)</a:t>
            </a:r>
          </a:p>
          <a:p>
            <a:pPr>
              <a:spcAft>
                <a:spcPts val="250"/>
              </a:spcAft>
              <a:defRPr sz="1100">
                <a:solidFill>
                  <a:srgbClr val="F3F4F6"/>
                </a:solidFill>
              </a:defRPr>
            </a:pPr>
            <a:r>
              <a:t>  2. Master &amp; Monster Dual-Command (Asymmetric squad synergy)</a:t>
            </a:r>
          </a:p>
          <a:p>
            <a:pPr>
              <a:spcAft>
                <a:spcPts val="250"/>
              </a:spcAft>
              <a:defRPr sz="1100">
                <a:solidFill>
                  <a:srgbClr val="F3F4F6"/>
                </a:solidFill>
              </a:defRPr>
            </a:pPr>
            <a:r>
              <a:t>  3. Kinetic Shove Physics &amp; Collision Impacts</a:t>
            </a:r>
          </a:p>
          <a:p>
            <a:pPr>
              <a:spcAft>
                <a:spcPts val="250"/>
              </a:spcAft>
              <a:defRPr sz="1100">
                <a:solidFill>
                  <a:srgbClr val="F3F4F6"/>
                </a:solidFill>
              </a:defRPr>
            </a:pPr>
            <a:r>
              <a:t>  4. Land Siphoning &amp; Room-Clearing Titan Cataclysms</a:t>
            </a:r>
          </a:p>
        </p:txBody>
      </p:sp>
      <p:sp>
        <p:nvSpPr>
          <p:cNvPr id="4" name="Rounded Rectangle 3"/>
          <p:cNvSpPr/>
          <p:nvPr/>
        </p:nvSpPr>
        <p:spPr>
          <a:xfrm>
            <a:off x="6217920" y="1645920"/>
            <a:ext cx="5212080" cy="4663440"/>
          </a:xfrm>
          <a:prstGeom prst="roundRect">
            <a:avLst/>
          </a:prstGeom>
          <a:solidFill>
            <a:srgbClr val="161B2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F59E0B"/>
                </a:solidFill>
              </a:defRPr>
            </a:pPr>
            <a:r>
              <a:t>🎯 Market, Platform &amp; Business Model</a:t>
            </a:r>
          </a:p>
          <a:p>
            <a:pPr>
              <a:spcAft>
                <a:spcPts val="250"/>
              </a:spcAft>
              <a:defRPr sz="1100">
                <a:solidFill>
                  <a:srgbClr val="F3F4F6"/>
                </a:solidFill>
              </a:defRPr>
            </a:pPr>
            <a:r>
              <a:t>• Target Audience:</a:t>
            </a:r>
          </a:p>
          <a:p>
            <a:pPr>
              <a:spcAft>
                <a:spcPts val="250"/>
              </a:spcAft>
              <a:defRPr sz="1100">
                <a:solidFill>
                  <a:srgbClr val="F3F4F6"/>
                </a:solidFill>
              </a:defRPr>
            </a:pPr>
            <a:r>
              <a:t>  Ages 18–35. Passionate fans of classic turn-based tactics (Brigandine, Final Fantasy Tactics, Tactics Ogre) and modern tactical hits (Triangle Strategy, Into the Breach).</a:t>
            </a:r>
          </a:p>
          <a:p>
            <a:pPr>
              <a:spcAft>
                <a:spcPts val="250"/>
              </a:spcAft>
              <a:defRPr sz="1100">
                <a:solidFill>
                  <a:srgbClr val="F3F4F6"/>
                </a:solidFill>
              </a:defRPr>
            </a:pPr>
          </a:p>
          <a:p>
            <a:pPr>
              <a:spcAft>
                <a:spcPts val="250"/>
              </a:spcAft>
              <a:defRPr sz="1100">
                <a:solidFill>
                  <a:srgbClr val="F3F4F6"/>
                </a:solidFill>
              </a:defRPr>
            </a:pPr>
            <a:r>
              <a:t>• Target Platform:</a:t>
            </a:r>
          </a:p>
          <a:p>
            <a:pPr>
              <a:spcAft>
                <a:spcPts val="250"/>
              </a:spcAft>
              <a:defRPr sz="1100">
                <a:solidFill>
                  <a:srgbClr val="F3F4F6"/>
                </a:solidFill>
              </a:defRPr>
            </a:pPr>
            <a:r>
              <a:t>  PC Steam (Windows 10/11) with Steam Deck verified targets. Console ports (Switch / PlayStation) feasible upon full commercial publishing.</a:t>
            </a:r>
          </a:p>
          <a:p>
            <a:pPr>
              <a:spcAft>
                <a:spcPts val="250"/>
              </a:spcAft>
              <a:defRPr sz="1100">
                <a:solidFill>
                  <a:srgbClr val="F3F4F6"/>
                </a:solidFill>
              </a:defRPr>
            </a:pPr>
          </a:p>
          <a:p>
            <a:pPr>
              <a:spcAft>
                <a:spcPts val="250"/>
              </a:spcAft>
              <a:defRPr sz="1100">
                <a:solidFill>
                  <a:srgbClr val="F3F4F6"/>
                </a:solidFill>
              </a:defRPr>
            </a:pPr>
            <a:r>
              <a:t>• Business Model:</a:t>
            </a:r>
          </a:p>
          <a:p>
            <a:pPr>
              <a:spcAft>
                <a:spcPts val="250"/>
              </a:spcAft>
              <a:defRPr sz="1100">
                <a:solidFill>
                  <a:srgbClr val="F3F4F6"/>
                </a:solidFill>
              </a:defRPr>
            </a:pPr>
            <a:r>
              <a:t>  Premium Single-Player Indie ($14.99 – $19.99 USD) with zero microtransactions or paywalls.</a:t>
            </a:r>
          </a:p>
          <a:p>
            <a:pPr>
              <a:spcAft>
                <a:spcPts val="250"/>
              </a:spcAft>
              <a:defRPr sz="1100">
                <a:solidFill>
                  <a:srgbClr val="F3F4F6"/>
                </a:solidFill>
              </a:defRPr>
            </a:pPr>
          </a:p>
          <a:p>
            <a:pPr>
              <a:spcAft>
                <a:spcPts val="250"/>
              </a:spcAft>
              <a:defRPr sz="1100">
                <a:solidFill>
                  <a:srgbClr val="F3F4F6"/>
                </a:solidFill>
              </a:defRPr>
            </a:pPr>
            <a:r>
              <a:t>• Current State &amp; Demo Scope:</a:t>
            </a:r>
          </a:p>
          <a:p>
            <a:pPr>
              <a:spcAft>
                <a:spcPts val="250"/>
              </a:spcAft>
              <a:defRPr sz="1100">
                <a:solidFill>
                  <a:srgbClr val="F3F4F6"/>
                </a:solidFill>
              </a:defRPr>
            </a:pPr>
            <a:r>
              <a:t>  Verified Unity 6 vertical slice (Month 0). $6,000 TGFI grant funds 6 months to expand into a high-retention 30-minute Steam Next Fest demo.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411480"/>
            <a:ext cx="10698480" cy="1005840"/>
          </a:xfrm>
          <a:prstGeom prst="rect">
            <a:avLst/>
          </a:prstGeom>
          <a:noFill/>
        </p:spPr>
        <p:txBody>
          <a:bodyPr wrap="square" lIns="0" tIns="0" rIns="0" bIns="0">
            <a:spAutoFit/>
          </a:bodyPr>
          <a:lstStyle/>
          <a:p>
            <a:pPr>
              <a:defRPr sz="1100" b="1">
                <a:solidFill>
                  <a:srgbClr val="06B6D4"/>
                </a:solidFill>
              </a:defRPr>
            </a:pPr>
            <a:r>
              <a:t>TGFI PITCH SECTION 3: MARKET OPPORTUNITY</a:t>
            </a:r>
          </a:p>
          <a:p>
            <a:pPr>
              <a:defRPr sz="2400" b="1">
                <a:solidFill>
                  <a:srgbClr val="F3F4F6"/>
                </a:solidFill>
              </a:defRPr>
            </a:pPr>
            <a:r>
              <a:t>Market Opportunity: Problems, Solutions &amp; Benchmark</a:t>
            </a:r>
          </a:p>
        </p:txBody>
      </p:sp>
      <p:sp>
        <p:nvSpPr>
          <p:cNvPr id="3" name="Rounded Rectangle 2"/>
          <p:cNvSpPr/>
          <p:nvPr/>
        </p:nvSpPr>
        <p:spPr>
          <a:xfrm>
            <a:off x="731520" y="1600200"/>
            <a:ext cx="5212080" cy="1920240"/>
          </a:xfrm>
          <a:prstGeom prst="roundRect">
            <a:avLst/>
          </a:prstGeom>
          <a:solidFill>
            <a:srgbClr val="161B2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F59E0B"/>
                </a:solidFill>
              </a:defRPr>
            </a:pPr>
            <a:r>
              <a:t>🧠 Problem 1: Cognitive Overload</a:t>
            </a:r>
          </a:p>
          <a:p>
            <a:pPr>
              <a:spcAft>
                <a:spcPts val="250"/>
              </a:spcAft>
              <a:defRPr sz="1100">
                <a:solidFill>
                  <a:srgbClr val="F3F4F6"/>
                </a:solidFill>
              </a:defRPr>
            </a:pPr>
            <a:r>
              <a:t>The Frustration in Classic SRPGs:</a:t>
            </a:r>
          </a:p>
          <a:p>
            <a:pPr>
              <a:spcAft>
                <a:spcPts val="250"/>
              </a:spcAft>
              <a:defRPr sz="1100">
                <a:solidFill>
                  <a:srgbClr val="F3F4F6"/>
                </a:solidFill>
              </a:defRPr>
            </a:pPr>
            <a:r>
              <a:t>Confusing status effect spreadsheets, hidden percentage tables, and mental fatigue.</a:t>
            </a:r>
          </a:p>
          <a:p>
            <a:pPr>
              <a:spcAft>
                <a:spcPts val="250"/>
              </a:spcAft>
              <a:defRPr sz="1100">
                <a:solidFill>
                  <a:srgbClr val="F3F4F6"/>
                </a:solidFill>
              </a:defRPr>
            </a:pPr>
          </a:p>
          <a:p>
            <a:pPr>
              <a:spcAft>
                <a:spcPts val="250"/>
              </a:spcAft>
              <a:defRPr sz="1100">
                <a:solidFill>
                  <a:srgbClr val="F3F4F6"/>
                </a:solidFill>
              </a:defRPr>
            </a:pPr>
            <a:r>
              <a:t>➔ Our Solution: Ghost UI (Predictive Preview)</a:t>
            </a:r>
          </a:p>
          <a:p>
            <a:pPr>
              <a:spcAft>
                <a:spcPts val="250"/>
              </a:spcAft>
              <a:defRPr sz="1100">
                <a:solidFill>
                  <a:srgbClr val="F3F4F6"/>
                </a:solidFill>
              </a:defRPr>
            </a:pPr>
            <a:r>
              <a:t>Hovering any spell previews exact terrain mutation &amp; shove trajectory before committing. Deep tactics, zero fatigue.</a:t>
            </a:r>
          </a:p>
        </p:txBody>
      </p:sp>
      <p:sp>
        <p:nvSpPr>
          <p:cNvPr id="4" name="Rounded Rectangle 3"/>
          <p:cNvSpPr/>
          <p:nvPr/>
        </p:nvSpPr>
        <p:spPr>
          <a:xfrm>
            <a:off x="6217920" y="1600200"/>
            <a:ext cx="5212080" cy="1920240"/>
          </a:xfrm>
          <a:prstGeom prst="roundRect">
            <a:avLst/>
          </a:prstGeom>
          <a:solidFill>
            <a:srgbClr val="161B22"/>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06B6D4"/>
                </a:solidFill>
              </a:defRPr>
            </a:pPr>
            <a:r>
              <a:t>⏳ Problem 2: Setup Tax</a:t>
            </a:r>
          </a:p>
          <a:p>
            <a:pPr>
              <a:spcAft>
                <a:spcPts val="250"/>
              </a:spcAft>
              <a:defRPr sz="1100">
                <a:solidFill>
                  <a:srgbClr val="F3F4F6"/>
                </a:solidFill>
              </a:defRPr>
            </a:pPr>
            <a:r>
              <a:t>The Frustration in Classic SRPGs:</a:t>
            </a:r>
          </a:p>
          <a:p>
            <a:pPr>
              <a:spcAft>
                <a:spcPts val="250"/>
              </a:spcAft>
              <a:defRPr sz="1100">
                <a:solidFill>
                  <a:srgbClr val="F3F4F6"/>
                </a:solidFill>
              </a:defRPr>
            </a:pPr>
            <a:r>
              <a:t>Wasting valuable turns just setting tiles without dealing damage to enemies.</a:t>
            </a:r>
          </a:p>
          <a:p>
            <a:pPr>
              <a:spcAft>
                <a:spcPts val="250"/>
              </a:spcAft>
              <a:defRPr sz="1100">
                <a:solidFill>
                  <a:srgbClr val="F3F4F6"/>
                </a:solidFill>
              </a:defRPr>
            </a:pPr>
          </a:p>
          <a:p>
            <a:pPr>
              <a:spcAft>
                <a:spcPts val="250"/>
              </a:spcAft>
              <a:defRPr sz="1100">
                <a:solidFill>
                  <a:srgbClr val="F3F4F6"/>
                </a:solidFill>
              </a:defRPr>
            </a:pPr>
            <a:r>
              <a:t>➔ Our Solution: Hybrid Attack-Spells</a:t>
            </a:r>
          </a:p>
          <a:p>
            <a:pPr>
              <a:spcAft>
                <a:spcPts val="250"/>
              </a:spcAft>
              <a:defRPr sz="1100">
                <a:solidFill>
                  <a:srgbClr val="F3F4F6"/>
                </a:solidFill>
              </a:defRPr>
            </a:pPr>
            <a:r>
              <a:t>Every spell attacks AND mutates terrain in 1 action (Fireball burns lava; Push deals damage). Zero filler turns.</a:t>
            </a:r>
          </a:p>
        </p:txBody>
      </p:sp>
      <p:sp>
        <p:nvSpPr>
          <p:cNvPr id="5" name="Rounded Rectangle 4"/>
          <p:cNvSpPr/>
          <p:nvPr/>
        </p:nvSpPr>
        <p:spPr>
          <a:xfrm>
            <a:off x="731520" y="3657600"/>
            <a:ext cx="5212080" cy="2011680"/>
          </a:xfrm>
          <a:prstGeom prst="roundRect">
            <a:avLst/>
          </a:prstGeom>
          <a:solidFill>
            <a:srgbClr val="161B2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10B981"/>
                </a:solidFill>
              </a:defRPr>
            </a:pPr>
            <a:r>
              <a:t>♟️ Hex &amp; Tactical RPG Comps</a:t>
            </a:r>
          </a:p>
          <a:p>
            <a:pPr>
              <a:spcAft>
                <a:spcPts val="250"/>
              </a:spcAft>
              <a:defRPr sz="1100">
                <a:solidFill>
                  <a:srgbClr val="F3F4F6"/>
                </a:solidFill>
              </a:defRPr>
            </a:pPr>
            <a:r>
              <a:t>• Brigandine: Runersia (Happinet | 1,300+ Reviews, Very Positive):</a:t>
            </a:r>
          </a:p>
          <a:p>
            <a:pPr>
              <a:spcAft>
                <a:spcPts val="250"/>
              </a:spcAft>
              <a:defRPr sz="1100">
                <a:solidFill>
                  <a:srgbClr val="F3F4F6"/>
                </a:solidFill>
              </a:defRPr>
            </a:pPr>
            <a:r>
              <a:t>  Proves hex-grid monster commanding market. We replace slow 45-min AA battle animations with streamlined tactical flow and Active Terraforming.</a:t>
            </a:r>
          </a:p>
          <a:p>
            <a:pPr>
              <a:spcAft>
                <a:spcPts val="250"/>
              </a:spcAft>
              <a:defRPr sz="1100">
                <a:solidFill>
                  <a:srgbClr val="F3F4F6"/>
                </a:solidFill>
              </a:defRPr>
            </a:pPr>
          </a:p>
          <a:p>
            <a:pPr>
              <a:spcAft>
                <a:spcPts val="250"/>
              </a:spcAft>
              <a:defRPr sz="1100">
                <a:solidFill>
                  <a:srgbClr val="F3F4F6"/>
                </a:solidFill>
              </a:defRPr>
            </a:pPr>
            <a:r>
              <a:t>• Vanaris Tactics (Toge Productions):</a:t>
            </a:r>
          </a:p>
          <a:p>
            <a:pPr>
              <a:spcAft>
                <a:spcPts val="250"/>
              </a:spcAft>
              <a:defRPr sz="1100">
                <a:solidFill>
                  <a:srgbClr val="F3F4F6"/>
                </a:solidFill>
              </a:defRPr>
            </a:pPr>
            <a:r>
              <a:t>  Proves retro FFT charm. We add 3D multi-level elevations, kinetic shoves, and terrain harvesting.</a:t>
            </a:r>
          </a:p>
        </p:txBody>
      </p:sp>
      <p:sp>
        <p:nvSpPr>
          <p:cNvPr id="6" name="Rounded Rectangle 5"/>
          <p:cNvSpPr/>
          <p:nvPr/>
        </p:nvSpPr>
        <p:spPr>
          <a:xfrm>
            <a:off x="6217920" y="3657600"/>
            <a:ext cx="5212080" cy="2011680"/>
          </a:xfrm>
          <a:prstGeom prst="roundRect">
            <a:avLst/>
          </a:prstGeom>
          <a:solidFill>
            <a:srgbClr val="161B22"/>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06B6D4"/>
                </a:solidFill>
              </a:defRPr>
            </a:pPr>
            <a:r>
              <a:t>⚔️ Push Puzzle &amp; HD-2D Comps</a:t>
            </a:r>
          </a:p>
          <a:p>
            <a:pPr>
              <a:spcAft>
                <a:spcPts val="250"/>
              </a:spcAft>
              <a:defRPr sz="1100">
                <a:solidFill>
                  <a:srgbClr val="F3F4F6"/>
                </a:solidFill>
              </a:defRPr>
            </a:pPr>
            <a:r>
              <a:t>• Into the Breach (Subset Games | Overwhelmingly Positive):</a:t>
            </a:r>
          </a:p>
          <a:p>
            <a:pPr>
              <a:spcAft>
                <a:spcPts val="250"/>
              </a:spcAft>
              <a:defRPr sz="1100">
                <a:solidFill>
                  <a:srgbClr val="F3F4F6"/>
                </a:solidFill>
              </a:defRPr>
            </a:pPr>
            <a:r>
              <a:t>  Masterpiece of shove puzzles. We marry push physics with fantasy RPG squad progression and land siphoning for Titan cataclysms.</a:t>
            </a:r>
          </a:p>
          <a:p>
            <a:pPr>
              <a:spcAft>
                <a:spcPts val="250"/>
              </a:spcAft>
              <a:defRPr sz="1100">
                <a:solidFill>
                  <a:srgbClr val="F3F4F6"/>
                </a:solidFill>
              </a:defRPr>
            </a:pPr>
          </a:p>
          <a:p>
            <a:pPr>
              <a:spcAft>
                <a:spcPts val="250"/>
              </a:spcAft>
              <a:defRPr sz="1100">
                <a:solidFill>
                  <a:srgbClr val="F3F4F6"/>
                </a:solidFill>
              </a:defRPr>
            </a:pPr>
            <a:r>
              <a:t>• Triangle Strategy (Square Enix):</a:t>
            </a:r>
          </a:p>
          <a:p>
            <a:pPr>
              <a:spcAft>
                <a:spcPts val="250"/>
              </a:spcAft>
              <a:defRPr sz="1100">
                <a:solidFill>
                  <a:srgbClr val="F3F4F6"/>
                </a:solidFill>
              </a:defRPr>
            </a:pPr>
            <a:r>
              <a:t>  HD-2D tactical presentation. We eliminate 20-hour level grinding, focusing on pure spatial skill.</a:t>
            </a:r>
          </a:p>
        </p:txBody>
      </p:sp>
      <p:sp>
        <p:nvSpPr>
          <p:cNvPr id="7" name="Rounded Rectangle 6"/>
          <p:cNvSpPr/>
          <p:nvPr/>
        </p:nvSpPr>
        <p:spPr>
          <a:xfrm>
            <a:off x="731520" y="5779008"/>
            <a:ext cx="10698480" cy="594360"/>
          </a:xfrm>
          <a:prstGeom prst="roundRect">
            <a:avLst/>
          </a:prstGeom>
          <a:solidFill>
            <a:srgbClr val="161B2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250"/>
              </a:spcAft>
              <a:defRPr sz="1100">
                <a:solidFill>
                  <a:srgbClr val="F3F4F6"/>
                </a:solidFill>
              </a:defRPr>
            </a:pPr>
            <a:r>
              <a:t>🎯 Market Opportunity: Tactics fans crave Brigandine's monster fantasy and FFT's nostalgic depth, but want streamlined pacing without spreadsheet bloat.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411480"/>
            <a:ext cx="10698480" cy="1005840"/>
          </a:xfrm>
          <a:prstGeom prst="rect">
            <a:avLst/>
          </a:prstGeom>
          <a:noFill/>
        </p:spPr>
        <p:txBody>
          <a:bodyPr wrap="square" lIns="0" tIns="0" rIns="0" bIns="0">
            <a:spAutoFit/>
          </a:bodyPr>
          <a:lstStyle/>
          <a:p>
            <a:pPr>
              <a:defRPr sz="1100" b="1">
                <a:solidFill>
                  <a:srgbClr val="06B6D4"/>
                </a:solidFill>
              </a:defRPr>
            </a:pPr>
            <a:r>
              <a:t>TGFI PITCH SECTION 4: PRODUCT &amp; SOLUTION</a:t>
            </a:r>
          </a:p>
          <a:p>
            <a:pPr>
              <a:defRPr sz="2400" b="1">
                <a:solidFill>
                  <a:srgbClr val="F3F4F6"/>
                </a:solidFill>
              </a:defRPr>
            </a:pPr>
            <a:r>
              <a:t>Product &amp; Solution: Gameplay, Prototype &amp; Visual Target</a:t>
            </a:r>
          </a:p>
        </p:txBody>
      </p:sp>
      <p:sp>
        <p:nvSpPr>
          <p:cNvPr id="3" name="Rounded Rectangle 2"/>
          <p:cNvSpPr/>
          <p:nvPr/>
        </p:nvSpPr>
        <p:spPr>
          <a:xfrm>
            <a:off x="731520" y="1600200"/>
            <a:ext cx="5303520" cy="2286000"/>
          </a:xfrm>
          <a:prstGeom prst="roundRect">
            <a:avLst/>
          </a:prstGeom>
          <a:solidFill>
            <a:srgbClr val="161B22"/>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06B6D4"/>
                </a:solidFill>
              </a:defRPr>
            </a:pPr>
            <a:r>
              <a:t>⚡ The 3-Step Tactical Loop</a:t>
            </a:r>
          </a:p>
          <a:p>
            <a:pPr>
              <a:spcAft>
                <a:spcPts val="250"/>
              </a:spcAft>
              <a:defRPr sz="1100">
                <a:solidFill>
                  <a:srgbClr val="F3F4F6"/>
                </a:solidFill>
              </a:defRPr>
            </a:pPr>
            <a:r>
              <a:t>• 1. Master Infuses (Terraform):</a:t>
            </a:r>
          </a:p>
          <a:p>
            <a:pPr>
              <a:spcAft>
                <a:spcPts val="250"/>
              </a:spcAft>
              <a:defRPr sz="1100">
                <a:solidFill>
                  <a:srgbClr val="F3F4F6"/>
                </a:solidFill>
              </a:defRPr>
            </a:pPr>
            <a:r>
              <a:t>  Fireballs scorch grass into molten lava moats; water blasts create steam.</a:t>
            </a:r>
          </a:p>
          <a:p>
            <a:pPr>
              <a:spcAft>
                <a:spcPts val="250"/>
              </a:spcAft>
              <a:defRPr sz="1100">
                <a:solidFill>
                  <a:srgbClr val="F3F4F6"/>
                </a:solidFill>
              </a:defRPr>
            </a:pPr>
          </a:p>
          <a:p>
            <a:pPr>
              <a:spcAft>
                <a:spcPts val="250"/>
              </a:spcAft>
              <a:defRPr sz="1100">
                <a:solidFill>
                  <a:srgbClr val="F3F4F6"/>
                </a:solidFill>
              </a:defRPr>
            </a:pPr>
            <a:r>
              <a:t>• 2. Monster Attunes (Adapt):</a:t>
            </a:r>
          </a:p>
          <a:p>
            <a:pPr>
              <a:spcAft>
                <a:spcPts val="250"/>
              </a:spcAft>
              <a:defRPr sz="1100">
                <a:solidFill>
                  <a:srgbClr val="F3F4F6"/>
                </a:solidFill>
              </a:defRPr>
            </a:pPr>
            <a:r>
              <a:t>  Allied Monsters thrive in their element (fire beasts gain +2 ATK on lava).</a:t>
            </a:r>
          </a:p>
          <a:p>
            <a:pPr>
              <a:spcAft>
                <a:spcPts val="250"/>
              </a:spcAft>
              <a:defRPr sz="1100">
                <a:solidFill>
                  <a:srgbClr val="F3F4F6"/>
                </a:solidFill>
              </a:defRPr>
            </a:pPr>
          </a:p>
          <a:p>
            <a:pPr>
              <a:spcAft>
                <a:spcPts val="250"/>
              </a:spcAft>
              <a:defRPr sz="1100">
                <a:solidFill>
                  <a:srgbClr val="F3F4F6"/>
                </a:solidFill>
              </a:defRPr>
            </a:pPr>
            <a:r>
              <a:t>• 3. Monster Consumes (Unleash):</a:t>
            </a:r>
          </a:p>
          <a:p>
            <a:pPr>
              <a:spcAft>
                <a:spcPts val="250"/>
              </a:spcAft>
              <a:defRPr sz="1100">
                <a:solidFill>
                  <a:srgbClr val="F3F4F6"/>
                </a:solidFill>
              </a:defRPr>
            </a:pPr>
            <a:r>
              <a:t>  Titans siphon active terrain into Barren Earth to trigger Magma Cataclysms.</a:t>
            </a:r>
          </a:p>
          <a:p>
            <a:pPr>
              <a:spcAft>
                <a:spcPts val="250"/>
              </a:spcAft>
              <a:defRPr sz="1100">
                <a:solidFill>
                  <a:srgbClr val="F3F4F6"/>
                </a:solidFill>
              </a:defRPr>
            </a:pPr>
          </a:p>
          <a:p>
            <a:pPr>
              <a:spcAft>
                <a:spcPts val="250"/>
              </a:spcAft>
              <a:defRPr sz="1100">
                <a:solidFill>
                  <a:srgbClr val="F3F4F6"/>
                </a:solidFill>
              </a:defRPr>
            </a:pPr>
            <a:r>
              <a:t>💡 Dual-Command: Master shapes the map; Monster anchors the frontline.</a:t>
            </a:r>
          </a:p>
        </p:txBody>
      </p:sp>
      <p:sp>
        <p:nvSpPr>
          <p:cNvPr id="4" name="Rounded Rectangle 3"/>
          <p:cNvSpPr/>
          <p:nvPr/>
        </p:nvSpPr>
        <p:spPr>
          <a:xfrm>
            <a:off x="731520" y="4023360"/>
            <a:ext cx="5303520" cy="2377440"/>
          </a:xfrm>
          <a:prstGeom prst="roundRect">
            <a:avLst/>
          </a:prstGeom>
          <a:solidFill>
            <a:srgbClr val="161B2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10B981"/>
                </a:solidFill>
              </a:defRPr>
            </a:pPr>
            <a:r>
              <a:t>🏆 Verified Working Vertical Slice (Month 0)</a:t>
            </a:r>
          </a:p>
          <a:p>
            <a:pPr>
              <a:spcAft>
                <a:spcPts val="250"/>
              </a:spcAft>
              <a:defRPr sz="1100">
                <a:solidFill>
                  <a:srgbClr val="F3F4F6"/>
                </a:solidFill>
              </a:defRPr>
            </a:pPr>
            <a:r>
              <a:t>• Fully working 2v2 skirmish (Master + Titan vs Boss + Minion) in Unity 6</a:t>
            </a:r>
          </a:p>
          <a:p>
            <a:pPr>
              <a:spcAft>
                <a:spcPts val="250"/>
              </a:spcAft>
              <a:defRPr sz="1100">
                <a:solidFill>
                  <a:srgbClr val="F3F4F6"/>
                </a:solidFill>
              </a:defRPr>
            </a:pPr>
            <a:r>
              <a:t>• 3D procedural hex grid with multi-level cliff elevations</a:t>
            </a:r>
          </a:p>
          <a:p>
            <a:pPr>
              <a:spcAft>
                <a:spcPts val="250"/>
              </a:spcAft>
              <a:defRPr sz="1100">
                <a:solidFill>
                  <a:srgbClr val="F3F4F6"/>
                </a:solidFill>
              </a:defRPr>
            </a:pPr>
            <a:r>
              <a:t>• Kinetic shove physics with wall-impact collisions &amp; lava hazard burns</a:t>
            </a:r>
          </a:p>
          <a:p>
            <a:pPr>
              <a:spcAft>
                <a:spcPts val="250"/>
              </a:spcAft>
              <a:defRPr sz="1100">
                <a:solidFill>
                  <a:srgbClr val="F3F4F6"/>
                </a:solidFill>
              </a:defRPr>
            </a:pPr>
            <a:r>
              <a:t>• Land siphoning &amp; camera screen-shake Magma Cataclysm</a:t>
            </a:r>
          </a:p>
          <a:p>
            <a:pPr>
              <a:spcAft>
                <a:spcPts val="250"/>
              </a:spcAft>
              <a:defRPr sz="1100">
                <a:solidFill>
                  <a:srgbClr val="F3F4F6"/>
                </a:solidFill>
              </a:defRPr>
            </a:pPr>
            <a:r>
              <a:t>• Zero-dependency procedural audio engine with mute toggle active</a:t>
            </a:r>
          </a:p>
          <a:p>
            <a:pPr>
              <a:spcAft>
                <a:spcPts val="250"/>
              </a:spcAft>
              <a:defRPr sz="1100">
                <a:solidFill>
                  <a:srgbClr val="F3F4F6"/>
                </a:solidFill>
              </a:defRPr>
            </a:pPr>
            <a:r>
              <a:t>• Standalone playable Windows .exe build ready for review</a:t>
            </a:r>
          </a:p>
        </p:txBody>
      </p:sp>
      <p:pic>
        <p:nvPicPr>
          <p:cNvPr id="5" name="Picture 4" descr="slide9_visual_benchmark.png"/>
          <p:cNvPicPr>
            <a:picLocks noChangeAspect="1"/>
          </p:cNvPicPr>
          <p:nvPr/>
        </p:nvPicPr>
        <p:blipFill>
          <a:blip r:embed="rId2"/>
          <a:stretch>
            <a:fillRect/>
          </a:stretch>
        </p:blipFill>
        <p:spPr>
          <a:xfrm>
            <a:off x="6309360" y="1600200"/>
            <a:ext cx="4174435" cy="4800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411480"/>
            <a:ext cx="10698480" cy="1005840"/>
          </a:xfrm>
          <a:prstGeom prst="rect">
            <a:avLst/>
          </a:prstGeom>
          <a:noFill/>
        </p:spPr>
        <p:txBody>
          <a:bodyPr wrap="square" lIns="0" tIns="0" rIns="0" bIns="0">
            <a:spAutoFit/>
          </a:bodyPr>
          <a:lstStyle/>
          <a:p>
            <a:pPr>
              <a:defRPr sz="1100" b="1">
                <a:solidFill>
                  <a:srgbClr val="06B6D4"/>
                </a:solidFill>
              </a:defRPr>
            </a:pPr>
            <a:r>
              <a:t>TGFI PITCH SECTION 5: EXECUTION PLAN</a:t>
            </a:r>
          </a:p>
          <a:p>
            <a:pPr>
              <a:defRPr sz="2400" b="1">
                <a:solidFill>
                  <a:srgbClr val="F3F4F6"/>
                </a:solidFill>
              </a:defRPr>
            </a:pPr>
            <a:r>
              <a:t>Execution Plan: Scope, Timeline &amp; $6,000 Budget</a:t>
            </a:r>
          </a:p>
        </p:txBody>
      </p:sp>
      <p:sp>
        <p:nvSpPr>
          <p:cNvPr id="3" name="Rounded Rectangle 2"/>
          <p:cNvSpPr/>
          <p:nvPr/>
        </p:nvSpPr>
        <p:spPr>
          <a:xfrm>
            <a:off x="731520" y="1645920"/>
            <a:ext cx="5212080" cy="4663440"/>
          </a:xfrm>
          <a:prstGeom prst="roundRect">
            <a:avLst/>
          </a:prstGeom>
          <a:solidFill>
            <a:srgbClr val="161B2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F59E0B"/>
                </a:solidFill>
              </a:defRPr>
            </a:pPr>
            <a:r>
              <a:t>🗺️ 6-Month Production Roadmap to Steam Demo</a:t>
            </a:r>
          </a:p>
          <a:p>
            <a:pPr>
              <a:spcAft>
                <a:spcPts val="250"/>
              </a:spcAft>
              <a:defRPr sz="1100">
                <a:solidFill>
                  <a:srgbClr val="F3F4F6"/>
                </a:solidFill>
              </a:defRPr>
            </a:pPr>
            <a:r>
              <a:t>• Month 1–2: Character Sprite Pipeline</a:t>
            </a:r>
          </a:p>
          <a:p>
            <a:pPr>
              <a:spcAft>
                <a:spcPts val="250"/>
              </a:spcAft>
              <a:defRPr sz="1100">
                <a:solidFill>
                  <a:srgbClr val="F3F4F6"/>
                </a:solidFill>
              </a:defRPr>
            </a:pPr>
            <a:r>
              <a:t>  Commission freelance pixel artist for 2-directional animated sprite sheets (6 classes) and character portraits. Implement sprite animation controller.</a:t>
            </a:r>
          </a:p>
          <a:p>
            <a:pPr>
              <a:spcAft>
                <a:spcPts val="250"/>
              </a:spcAft>
              <a:defRPr sz="1100">
                <a:solidFill>
                  <a:srgbClr val="F3F4F6"/>
                </a:solidFill>
              </a:defRPr>
            </a:pPr>
          </a:p>
          <a:p>
            <a:pPr>
              <a:spcAft>
                <a:spcPts val="250"/>
              </a:spcAft>
              <a:defRPr sz="1100">
                <a:solidFill>
                  <a:srgbClr val="F3F4F6"/>
                </a:solidFill>
              </a:defRPr>
            </a:pPr>
            <a:r>
              <a:t>• Month 3: New Biomes &amp; Mechanics</a:t>
            </a:r>
          </a:p>
          <a:p>
            <a:pPr>
              <a:spcAft>
                <a:spcPts val="250"/>
              </a:spcAft>
              <a:defRPr sz="1100">
                <a:solidFill>
                  <a:srgbClr val="F3F4F6"/>
                </a:solidFill>
              </a:defRPr>
            </a:pPr>
            <a:r>
              <a:t>  Implement Glacial Peak (ice slide shove physics) and Conductive Marsh (water + lightning chain electrocution).</a:t>
            </a:r>
          </a:p>
          <a:p>
            <a:pPr>
              <a:spcAft>
                <a:spcPts val="250"/>
              </a:spcAft>
              <a:defRPr sz="1100">
                <a:solidFill>
                  <a:srgbClr val="F3F4F6"/>
                </a:solidFill>
              </a:defRPr>
            </a:pPr>
          </a:p>
          <a:p>
            <a:pPr>
              <a:spcAft>
                <a:spcPts val="250"/>
              </a:spcAft>
              <a:defRPr sz="1100">
                <a:solidFill>
                  <a:srgbClr val="F3F4F6"/>
                </a:solidFill>
              </a:defRPr>
            </a:pPr>
            <a:r>
              <a:t>• Month 4: Campaign Node Map &amp; Smart AI</a:t>
            </a:r>
          </a:p>
          <a:p>
            <a:pPr>
              <a:spcAft>
                <a:spcPts val="250"/>
              </a:spcAft>
              <a:defRPr sz="1100">
                <a:solidFill>
                  <a:srgbClr val="F3F4F6"/>
                </a:solidFill>
              </a:defRPr>
            </a:pPr>
            <a:r>
              <a:t>  Build node-based world map progression and enhance enemy AI (flanking, hazard evasion, and tactical retreating).</a:t>
            </a:r>
          </a:p>
          <a:p>
            <a:pPr>
              <a:spcAft>
                <a:spcPts val="250"/>
              </a:spcAft>
              <a:defRPr sz="1100">
                <a:solidFill>
                  <a:srgbClr val="F3F4F6"/>
                </a:solidFill>
              </a:defRPr>
            </a:pPr>
          </a:p>
          <a:p>
            <a:pPr>
              <a:spcAft>
                <a:spcPts val="250"/>
              </a:spcAft>
              <a:defRPr sz="1100">
                <a:solidFill>
                  <a:srgbClr val="F3F4F6"/>
                </a:solidFill>
              </a:defRPr>
            </a:pPr>
            <a:r>
              <a:t>• Month 5–6: Steam Demo &amp; Next Fest</a:t>
            </a:r>
          </a:p>
          <a:p>
            <a:pPr>
              <a:spcAft>
                <a:spcPts val="250"/>
              </a:spcAft>
              <a:defRPr sz="1100">
                <a:solidFill>
                  <a:srgbClr val="F3F4F6"/>
                </a:solidFill>
              </a:defRPr>
            </a:pPr>
            <a:r>
              <a:t>  Commission OST battle themes, polish UI/audio, and release a public 30-minute playable demo for Steam Next Fest.</a:t>
            </a:r>
          </a:p>
          <a:p>
            <a:pPr>
              <a:spcAft>
                <a:spcPts val="250"/>
              </a:spcAft>
              <a:defRPr sz="1100">
                <a:solidFill>
                  <a:srgbClr val="F3F4F6"/>
                </a:solidFill>
              </a:defRPr>
            </a:pPr>
          </a:p>
          <a:p>
            <a:pPr>
              <a:spcAft>
                <a:spcPts val="250"/>
              </a:spcAft>
              <a:defRPr sz="1100">
                <a:solidFill>
                  <a:srgbClr val="F3F4F6"/>
                </a:solidFill>
              </a:defRPr>
            </a:pPr>
            <a:r>
              <a:t>🛡️ Execution Risk = Near Zero:</a:t>
            </a:r>
          </a:p>
          <a:p>
            <a:pPr>
              <a:spcAft>
                <a:spcPts val="250"/>
              </a:spcAft>
              <a:defRPr sz="1100">
                <a:solidFill>
                  <a:srgbClr val="F3F4F6"/>
                </a:solidFill>
              </a:defRPr>
            </a:pPr>
            <a:r>
              <a:t>Core combat engine, hex math, kinetic displacement, and land-siphoning loops are ALREADY complete (Month 0). Months 1–6 are strictly for content &amp; asset commissioning.</a:t>
            </a:r>
          </a:p>
        </p:txBody>
      </p:sp>
      <p:sp>
        <p:nvSpPr>
          <p:cNvPr id="4" name="Rounded Rectangle 3"/>
          <p:cNvSpPr/>
          <p:nvPr/>
        </p:nvSpPr>
        <p:spPr>
          <a:xfrm>
            <a:off x="6217920" y="1645920"/>
            <a:ext cx="5212080" cy="4663440"/>
          </a:xfrm>
          <a:prstGeom prst="roundRect">
            <a:avLst/>
          </a:prstGeom>
          <a:solidFill>
            <a:srgbClr val="161B2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10B981"/>
                </a:solidFill>
              </a:defRPr>
            </a:pPr>
            <a:r>
              <a:t>💰 High-Approval $6,000 USD Lean Budget</a:t>
            </a:r>
          </a:p>
          <a:p>
            <a:pPr>
              <a:spcAft>
                <a:spcPts val="250"/>
              </a:spcAft>
              <a:defRPr sz="1100">
                <a:solidFill>
                  <a:srgbClr val="F3F4F6"/>
                </a:solidFill>
              </a:defRPr>
            </a:pPr>
            <a:r>
              <a:t>• [60%] Solo Dev Living Runway (6 Mos @ $600/mo): $3,600</a:t>
            </a:r>
          </a:p>
          <a:p>
            <a:pPr>
              <a:spcAft>
                <a:spcPts val="250"/>
              </a:spcAft>
              <a:defRPr sz="1100">
                <a:solidFill>
                  <a:srgbClr val="F3F4F6"/>
                </a:solidFill>
              </a:defRPr>
            </a:pPr>
            <a:r>
              <a:t>  (~Rp 9.300.000/month living runway to work full-time in Indonesia)</a:t>
            </a:r>
          </a:p>
          <a:p>
            <a:pPr>
              <a:spcAft>
                <a:spcPts val="250"/>
              </a:spcAft>
              <a:defRPr sz="1100">
                <a:solidFill>
                  <a:srgbClr val="F3F4F6"/>
                </a:solidFill>
              </a:defRPr>
            </a:pPr>
          </a:p>
          <a:p>
            <a:pPr>
              <a:spcAft>
                <a:spcPts val="250"/>
              </a:spcAft>
              <a:defRPr sz="1100">
                <a:solidFill>
                  <a:srgbClr val="F3F4F6"/>
                </a:solidFill>
              </a:defRPr>
            </a:pPr>
            <a:r>
              <a:t>• [20%] Core Character Sprite Pipeline (Demo Milestone): $1,200</a:t>
            </a:r>
          </a:p>
          <a:p>
            <a:pPr>
              <a:spcAft>
                <a:spcPts val="250"/>
              </a:spcAft>
              <a:defRPr sz="1100">
                <a:solidFill>
                  <a:srgbClr val="F3F4F6"/>
                </a:solidFill>
              </a:defRPr>
            </a:pPr>
            <a:r>
              <a:t>  (6 foundational classes with 2-dir retro loops; scalable to 20+ classes upon full publishing deal)</a:t>
            </a:r>
          </a:p>
          <a:p>
            <a:pPr>
              <a:spcAft>
                <a:spcPts val="250"/>
              </a:spcAft>
              <a:defRPr sz="1100">
                <a:solidFill>
                  <a:srgbClr val="F3F4F6"/>
                </a:solidFill>
              </a:defRPr>
            </a:pPr>
          </a:p>
          <a:p>
            <a:pPr>
              <a:spcAft>
                <a:spcPts val="250"/>
              </a:spcAft>
              <a:defRPr sz="1100">
                <a:solidFill>
                  <a:srgbClr val="F3F4F6"/>
                </a:solidFill>
              </a:defRPr>
            </a:pPr>
            <a:r>
              <a:t>• [10%] Original Tactical Soundtrack Commission: $600</a:t>
            </a:r>
          </a:p>
          <a:p>
            <a:pPr>
              <a:spcAft>
                <a:spcPts val="250"/>
              </a:spcAft>
              <a:defRPr sz="1100">
                <a:solidFill>
                  <a:srgbClr val="F3F4F6"/>
                </a:solidFill>
              </a:defRPr>
            </a:pPr>
            <a:r>
              <a:t>  (2 tactical battle themes by an indie composer)</a:t>
            </a:r>
          </a:p>
          <a:p>
            <a:pPr>
              <a:spcAft>
                <a:spcPts val="250"/>
              </a:spcAft>
              <a:defRPr sz="1100">
                <a:solidFill>
                  <a:srgbClr val="F3F4F6"/>
                </a:solidFill>
              </a:defRPr>
            </a:pPr>
          </a:p>
          <a:p>
            <a:pPr>
              <a:spcAft>
                <a:spcPts val="250"/>
              </a:spcAft>
              <a:defRPr sz="1100">
                <a:solidFill>
                  <a:srgbClr val="F3F4F6"/>
                </a:solidFill>
              </a:defRPr>
            </a:pPr>
            <a:r>
              <a:t>• [10%] Steam Listing Fee &amp; Unity Editor Tools: $600</a:t>
            </a:r>
          </a:p>
          <a:p>
            <a:pPr>
              <a:spcAft>
                <a:spcPts val="250"/>
              </a:spcAft>
              <a:defRPr sz="1100">
                <a:solidFill>
                  <a:srgbClr val="F3F4F6"/>
                </a:solidFill>
              </a:defRPr>
            </a:pPr>
            <a:r>
              <a:t>  ($100 Steam fee + essential editor productivity tools)</a:t>
            </a:r>
          </a:p>
          <a:p>
            <a:pPr>
              <a:spcAft>
                <a:spcPts val="250"/>
              </a:spcAft>
              <a:defRPr sz="1100">
                <a:solidFill>
                  <a:srgbClr val="F3F4F6"/>
                </a:solidFill>
              </a:defRPr>
            </a:pPr>
          </a:p>
          <a:p>
            <a:pPr>
              <a:spcAft>
                <a:spcPts val="250"/>
              </a:spcAft>
              <a:defRPr sz="1100">
                <a:solidFill>
                  <a:srgbClr val="F3F4F6"/>
                </a:solidFill>
              </a:defRPr>
            </a:pPr>
            <a:r>
              <a:t>TOTAL REQUESTED: $6,000 USD (~Rp 93.000.000)</a:t>
            </a:r>
          </a:p>
          <a:p>
            <a:pPr>
              <a:spcAft>
                <a:spcPts val="250"/>
              </a:spcAft>
              <a:defRPr sz="1100">
                <a:solidFill>
                  <a:srgbClr val="F3F4F6"/>
                </a:solidFill>
              </a:defRPr>
            </a:pPr>
          </a:p>
          <a:p>
            <a:pPr>
              <a:spcAft>
                <a:spcPts val="250"/>
              </a:spcAft>
              <a:defRPr sz="1100">
                <a:solidFill>
                  <a:srgbClr val="F3F4F6"/>
                </a:solidFill>
              </a:defRPr>
            </a:pPr>
            <a:r>
              <a:t>🤝 Accountability &amp; Milestone Tracking:</a:t>
            </a:r>
          </a:p>
          <a:p>
            <a:pPr>
              <a:spcAft>
                <a:spcPts val="250"/>
              </a:spcAft>
              <a:defRPr sz="1100">
                <a:solidFill>
                  <a:srgbClr val="F3F4F6"/>
                </a:solidFill>
              </a:defRPr>
            </a:pPr>
            <a:r>
              <a:t>Bi-weekly playable builds uploaded to private itch.io / GitHub milestone branches for Toge production review.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411480"/>
            <a:ext cx="10698480" cy="1005840"/>
          </a:xfrm>
          <a:prstGeom prst="rect">
            <a:avLst/>
          </a:prstGeom>
          <a:noFill/>
        </p:spPr>
        <p:txBody>
          <a:bodyPr wrap="square" lIns="0" tIns="0" rIns="0" bIns="0">
            <a:spAutoFit/>
          </a:bodyPr>
          <a:lstStyle/>
          <a:p>
            <a:pPr>
              <a:defRPr sz="1100" b="1">
                <a:solidFill>
                  <a:srgbClr val="06B6D4"/>
                </a:solidFill>
              </a:defRPr>
            </a:pPr>
            <a:r>
              <a:t>TGFI PITCH SECTION 6: THE ASK</a:t>
            </a:r>
          </a:p>
          <a:p>
            <a:pPr>
              <a:defRPr sz="2400" b="1">
                <a:solidFill>
                  <a:srgbClr val="F3F4F6"/>
                </a:solidFill>
              </a:defRPr>
            </a:pPr>
            <a:r>
              <a:t>The Ask: Funding, Support &amp; Commercial Path</a:t>
            </a:r>
          </a:p>
        </p:txBody>
      </p:sp>
      <p:sp>
        <p:nvSpPr>
          <p:cNvPr id="3" name="Rounded Rectangle 2"/>
          <p:cNvSpPr/>
          <p:nvPr/>
        </p:nvSpPr>
        <p:spPr>
          <a:xfrm>
            <a:off x="731520" y="1645920"/>
            <a:ext cx="5212080" cy="4663440"/>
          </a:xfrm>
          <a:prstGeom prst="roundRect">
            <a:avLst/>
          </a:prstGeom>
          <a:solidFill>
            <a:srgbClr val="161B2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10B981"/>
                </a:solidFill>
              </a:defRPr>
            </a:pPr>
            <a:r>
              <a:t>💰 Funding Request &amp; Milestone Deliverables</a:t>
            </a:r>
          </a:p>
          <a:p>
            <a:pPr>
              <a:spcAft>
                <a:spcPts val="250"/>
              </a:spcAft>
              <a:defRPr sz="1100">
                <a:solidFill>
                  <a:srgbClr val="F3F4F6"/>
                </a:solidFill>
              </a:defRPr>
            </a:pPr>
            <a:r>
              <a:t>• Grant Funding Requested:</a:t>
            </a:r>
          </a:p>
          <a:p>
            <a:pPr>
              <a:spcAft>
                <a:spcPts val="250"/>
              </a:spcAft>
              <a:defRPr sz="1100">
                <a:solidFill>
                  <a:srgbClr val="F3F4F6"/>
                </a:solidFill>
              </a:defRPr>
            </a:pPr>
            <a:r>
              <a:t>  $6,000 USD (~Rp 93.000.000) lean prototype funding from TGFI.</a:t>
            </a:r>
          </a:p>
          <a:p>
            <a:pPr>
              <a:spcAft>
                <a:spcPts val="250"/>
              </a:spcAft>
              <a:defRPr sz="1100">
                <a:solidFill>
                  <a:srgbClr val="F3F4F6"/>
                </a:solidFill>
              </a:defRPr>
            </a:pPr>
          </a:p>
          <a:p>
            <a:pPr>
              <a:spcAft>
                <a:spcPts val="250"/>
              </a:spcAft>
              <a:defRPr sz="1100">
                <a:solidFill>
                  <a:srgbClr val="F3F4F6"/>
                </a:solidFill>
              </a:defRPr>
            </a:pPr>
            <a:r>
              <a:t>• Purpose of Funds:</a:t>
            </a:r>
          </a:p>
          <a:p>
            <a:pPr>
              <a:spcAft>
                <a:spcPts val="250"/>
              </a:spcAft>
              <a:defRPr sz="1100">
                <a:solidFill>
                  <a:srgbClr val="F3F4F6"/>
                </a:solidFill>
              </a:defRPr>
            </a:pPr>
            <a:r>
              <a:t>  Directly funds 6 months of disciplined full-time solo development, professional pixel sprite sheets, tactical OST, and Steam release fees.</a:t>
            </a:r>
          </a:p>
          <a:p>
            <a:pPr>
              <a:spcAft>
                <a:spcPts val="250"/>
              </a:spcAft>
              <a:defRPr sz="1100">
                <a:solidFill>
                  <a:srgbClr val="F3F4F6"/>
                </a:solidFill>
              </a:defRPr>
            </a:pPr>
          </a:p>
          <a:p>
            <a:pPr>
              <a:spcAft>
                <a:spcPts val="250"/>
              </a:spcAft>
              <a:defRPr sz="1100">
                <a:solidFill>
                  <a:srgbClr val="F3F4F6"/>
                </a:solidFill>
              </a:defRPr>
            </a:pPr>
            <a:r>
              <a:t>• Target Milestone Deliverable:</a:t>
            </a:r>
          </a:p>
          <a:p>
            <a:pPr>
              <a:spcAft>
                <a:spcPts val="250"/>
              </a:spcAft>
              <a:defRPr sz="1100">
                <a:solidFill>
                  <a:srgbClr val="F3F4F6"/>
                </a:solidFill>
              </a:defRPr>
            </a:pPr>
            <a:r>
              <a:t>  A polished, feature-complete 30-minute playable demo ready for Steam Next Fest showcase.</a:t>
            </a:r>
          </a:p>
          <a:p>
            <a:pPr>
              <a:spcAft>
                <a:spcPts val="250"/>
              </a:spcAft>
              <a:defRPr sz="1100">
                <a:solidFill>
                  <a:srgbClr val="F3F4F6"/>
                </a:solidFill>
              </a:defRPr>
            </a:pPr>
          </a:p>
          <a:p>
            <a:pPr>
              <a:spcAft>
                <a:spcPts val="250"/>
              </a:spcAft>
              <a:defRPr sz="1100">
                <a:solidFill>
                  <a:srgbClr val="F3F4F6"/>
                </a:solidFill>
              </a:defRPr>
            </a:pPr>
            <a:r>
              <a:t>• Lean &amp; Disciplined Management:</a:t>
            </a:r>
          </a:p>
          <a:p>
            <a:pPr>
              <a:spcAft>
                <a:spcPts val="250"/>
              </a:spcAft>
              <a:defRPr sz="1100">
                <a:solidFill>
                  <a:srgbClr val="F3F4F6"/>
                </a:solidFill>
              </a:defRPr>
            </a:pPr>
            <a:r>
              <a:t>  Zero budget waste. Every dollar is mathematically allocated to living runway and essential external commissions.</a:t>
            </a:r>
          </a:p>
        </p:txBody>
      </p:sp>
      <p:sp>
        <p:nvSpPr>
          <p:cNvPr id="4" name="Rounded Rectangle 3"/>
          <p:cNvSpPr/>
          <p:nvPr/>
        </p:nvSpPr>
        <p:spPr>
          <a:xfrm>
            <a:off x="6217920" y="1645920"/>
            <a:ext cx="5212080" cy="4663440"/>
          </a:xfrm>
          <a:prstGeom prst="roundRect">
            <a:avLst/>
          </a:prstGeom>
          <a:solidFill>
            <a:srgbClr val="161B22"/>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06B6D4"/>
                </a:solidFill>
              </a:defRPr>
            </a:pPr>
            <a:r>
              <a:t>🤝 Publisher Support &amp; Commercial Path</a:t>
            </a:r>
          </a:p>
          <a:p>
            <a:pPr>
              <a:spcAft>
                <a:spcPts val="250"/>
              </a:spcAft>
              <a:defRPr sz="1100">
                <a:solidFill>
                  <a:srgbClr val="F3F4F6"/>
                </a:solidFill>
              </a:defRPr>
            </a:pPr>
            <a:r>
              <a:t>• Support Needed from Toge:</a:t>
            </a:r>
          </a:p>
          <a:p>
            <a:pPr>
              <a:spcAft>
                <a:spcPts val="250"/>
              </a:spcAft>
              <a:defRPr sz="1100">
                <a:solidFill>
                  <a:srgbClr val="F3F4F6"/>
                </a:solidFill>
              </a:defRPr>
            </a:pPr>
            <a:r>
              <a:t>  1. Milestone feedback &amp; production mentorship from Toge's veteran producers.</a:t>
            </a:r>
          </a:p>
          <a:p>
            <a:pPr>
              <a:spcAft>
                <a:spcPts val="250"/>
              </a:spcAft>
              <a:defRPr sz="1100">
                <a:solidFill>
                  <a:srgbClr val="F3F4F6"/>
                </a:solidFill>
              </a:defRPr>
            </a:pPr>
            <a:r>
              <a:t>  2. Publishing evaluation and market positioning guidance for Steam Next Fest.</a:t>
            </a:r>
          </a:p>
          <a:p>
            <a:pPr>
              <a:spcAft>
                <a:spcPts val="250"/>
              </a:spcAft>
              <a:defRPr sz="1100">
                <a:solidFill>
                  <a:srgbClr val="F3F4F6"/>
                </a:solidFill>
              </a:defRPr>
            </a:pPr>
          </a:p>
          <a:p>
            <a:pPr>
              <a:spcAft>
                <a:spcPts val="250"/>
              </a:spcAft>
              <a:defRPr sz="1100">
                <a:solidFill>
                  <a:srgbClr val="F3F4F6"/>
                </a:solidFill>
              </a:defRPr>
            </a:pPr>
            <a:r>
              <a:t>• What Toge Gets:</a:t>
            </a:r>
          </a:p>
          <a:p>
            <a:pPr>
              <a:spcAft>
                <a:spcPts val="250"/>
              </a:spcAft>
              <a:defRPr sz="1100">
                <a:solidFill>
                  <a:srgbClr val="F3F4F6"/>
                </a:solidFill>
              </a:defRPr>
            </a:pPr>
            <a:r>
              <a:t>  1. Right of First Refusal (RoFR) for a full commercial publishing partnership ($50k–$150k USD) to expand into 20+ classes and full continental campaign.</a:t>
            </a:r>
          </a:p>
          <a:p>
            <a:pPr>
              <a:spcAft>
                <a:spcPts val="250"/>
              </a:spcAft>
              <a:defRPr sz="1100">
                <a:solidFill>
                  <a:srgbClr val="F3F4F6"/>
                </a:solidFill>
              </a:defRPr>
            </a:pPr>
            <a:r>
              <a:t>  2. Transparent bi-weekly verified milestone builds.</a:t>
            </a:r>
          </a:p>
          <a:p>
            <a:pPr>
              <a:spcAft>
                <a:spcPts val="250"/>
              </a:spcAft>
              <a:defRPr sz="1100">
                <a:solidFill>
                  <a:srgbClr val="F3F4F6"/>
                </a:solidFill>
              </a:defRPr>
            </a:pPr>
            <a:r>
              <a:t>  3. First access to a unique SEA tactical title marrying classic JRPG nostalgia with modern terraforming mechanics.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411480"/>
            <a:ext cx="10698480" cy="1005840"/>
          </a:xfrm>
          <a:prstGeom prst="rect">
            <a:avLst/>
          </a:prstGeom>
          <a:noFill/>
        </p:spPr>
        <p:txBody>
          <a:bodyPr wrap="square" lIns="0" tIns="0" rIns="0" bIns="0">
            <a:spAutoFit/>
          </a:bodyPr>
          <a:lstStyle/>
          <a:p>
            <a:pPr>
              <a:defRPr sz="1100" b="1">
                <a:solidFill>
                  <a:srgbClr val="06B6D4"/>
                </a:solidFill>
              </a:defRPr>
            </a:pPr>
            <a:r>
              <a:t>TGFI PITCH SECTION 7: MORE INFO</a:t>
            </a:r>
          </a:p>
          <a:p>
            <a:pPr>
              <a:defRPr sz="2400" b="1">
                <a:solidFill>
                  <a:srgbClr val="F3F4F6"/>
                </a:solidFill>
              </a:defRPr>
            </a:pPr>
            <a:r>
              <a:t>More Info: Playable Prototype &amp; Developer Profile</a:t>
            </a:r>
          </a:p>
        </p:txBody>
      </p:sp>
      <p:sp>
        <p:nvSpPr>
          <p:cNvPr id="3" name="Rounded Rectangle 2"/>
          <p:cNvSpPr/>
          <p:nvPr/>
        </p:nvSpPr>
        <p:spPr>
          <a:xfrm>
            <a:off x="731520" y="1645920"/>
            <a:ext cx="5212080" cy="4663440"/>
          </a:xfrm>
          <a:prstGeom prst="roundRect">
            <a:avLst/>
          </a:prstGeom>
          <a:solidFill>
            <a:srgbClr val="161B2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10B981"/>
                </a:solidFill>
              </a:defRPr>
            </a:pPr>
            <a:r>
              <a:t>🎮 Playable Prototype (Verified in Unity 6)</a:t>
            </a:r>
          </a:p>
          <a:p>
            <a:pPr>
              <a:spcAft>
                <a:spcPts val="250"/>
              </a:spcAft>
              <a:defRPr sz="1100">
                <a:solidFill>
                  <a:srgbClr val="F3F4F6"/>
                </a:solidFill>
              </a:defRPr>
            </a:pPr>
            <a:r>
              <a:t>• Standalone Windows Executable (.exe) Ready Today:</a:t>
            </a:r>
          </a:p>
          <a:p>
            <a:pPr>
              <a:spcAft>
                <a:spcPts val="250"/>
              </a:spcAft>
              <a:defRPr sz="1100">
                <a:solidFill>
                  <a:srgbClr val="F3F4F6"/>
                </a:solidFill>
              </a:defRPr>
            </a:pPr>
            <a:r>
              <a:t>  A fully compiled Windows 10/11 standalone demo is ready for evaluation.</a:t>
            </a:r>
          </a:p>
          <a:p>
            <a:pPr>
              <a:spcAft>
                <a:spcPts val="250"/>
              </a:spcAft>
              <a:defRPr sz="1100">
                <a:solidFill>
                  <a:srgbClr val="F3F4F6"/>
                </a:solidFill>
              </a:defRPr>
            </a:pPr>
          </a:p>
          <a:p>
            <a:pPr>
              <a:spcAft>
                <a:spcPts val="250"/>
              </a:spcAft>
              <a:defRPr sz="1100">
                <a:solidFill>
                  <a:srgbClr val="F3F4F6"/>
                </a:solidFill>
              </a:defRPr>
            </a:pPr>
            <a:r>
              <a:t>• What You Can Test Right Now:</a:t>
            </a:r>
          </a:p>
          <a:p>
            <a:pPr>
              <a:spcAft>
                <a:spcPts val="250"/>
              </a:spcAft>
              <a:defRPr sz="1100">
                <a:solidFill>
                  <a:srgbClr val="F3F4F6"/>
                </a:solidFill>
              </a:defRPr>
            </a:pPr>
            <a:r>
              <a:t>  - Interactive 3D hex grid with dynamic 360° camera orbit</a:t>
            </a:r>
          </a:p>
          <a:p>
            <a:pPr>
              <a:spcAft>
                <a:spcPts val="250"/>
              </a:spcAft>
              <a:defRPr sz="1100">
                <a:solidFill>
                  <a:srgbClr val="F3F4F6"/>
                </a:solidFill>
              </a:defRPr>
            </a:pPr>
            <a:r>
              <a:t>  - Master Fireball casting &amp; kinetic shove wall-slams</a:t>
            </a:r>
          </a:p>
          <a:p>
            <a:pPr>
              <a:spcAft>
                <a:spcPts val="250"/>
              </a:spcAft>
              <a:defRPr sz="1100">
                <a:solidFill>
                  <a:srgbClr val="F3F4F6"/>
                </a:solidFill>
              </a:defRPr>
            </a:pPr>
            <a:r>
              <a:t>  - Real-time grass-to-lava terrain mutation</a:t>
            </a:r>
          </a:p>
          <a:p>
            <a:pPr>
              <a:spcAft>
                <a:spcPts val="250"/>
              </a:spcAft>
              <a:defRPr sz="1100">
                <a:solidFill>
                  <a:srgbClr val="F3F4F6"/>
                </a:solidFill>
              </a:defRPr>
            </a:pPr>
            <a:r>
              <a:t>  - Titan lava immunity, attunement buffs &amp; land siphoning</a:t>
            </a:r>
          </a:p>
          <a:p>
            <a:pPr>
              <a:spcAft>
                <a:spcPts val="250"/>
              </a:spcAft>
              <a:defRPr sz="1100">
                <a:solidFill>
                  <a:srgbClr val="F3F4F6"/>
                </a:solidFill>
              </a:defRPr>
            </a:pPr>
            <a:r>
              <a:t>  - Screen-shaking Magma Cataclysm finisher</a:t>
            </a:r>
          </a:p>
          <a:p>
            <a:pPr>
              <a:spcAft>
                <a:spcPts val="250"/>
              </a:spcAft>
              <a:defRPr sz="1100">
                <a:solidFill>
                  <a:srgbClr val="F3F4F6"/>
                </a:solidFill>
              </a:defRPr>
            </a:pPr>
            <a:r>
              <a:t>  - Zero-dependency procedural audio engine</a:t>
            </a:r>
          </a:p>
          <a:p>
            <a:pPr>
              <a:spcAft>
                <a:spcPts val="250"/>
              </a:spcAft>
              <a:defRPr sz="1100">
                <a:solidFill>
                  <a:srgbClr val="F3F4F6"/>
                </a:solidFill>
              </a:defRPr>
            </a:pPr>
          </a:p>
          <a:p>
            <a:pPr>
              <a:spcAft>
                <a:spcPts val="250"/>
              </a:spcAft>
              <a:defRPr sz="1100">
                <a:solidFill>
                  <a:srgbClr val="F3F4F6"/>
                </a:solidFill>
              </a:defRPr>
            </a:pPr>
            <a:r>
              <a:t>• Playable Demo Link:</a:t>
            </a:r>
          </a:p>
          <a:p>
            <a:pPr>
              <a:spcAft>
                <a:spcPts val="250"/>
              </a:spcAft>
              <a:defRPr sz="1100">
                <a:solidFill>
                  <a:srgbClr val="F3F4F6"/>
                </a:solidFill>
              </a:defRPr>
            </a:pPr>
            <a:r>
              <a:t>  Included in TGFI submission form (Private itch.io / Google Drive link).</a:t>
            </a:r>
          </a:p>
        </p:txBody>
      </p:sp>
      <p:sp>
        <p:nvSpPr>
          <p:cNvPr id="4" name="Rounded Rectangle 3"/>
          <p:cNvSpPr/>
          <p:nvPr/>
        </p:nvSpPr>
        <p:spPr>
          <a:xfrm>
            <a:off x="6217920" y="1645920"/>
            <a:ext cx="5212080" cy="4663440"/>
          </a:xfrm>
          <a:prstGeom prst="roundRect">
            <a:avLst/>
          </a:prstGeom>
          <a:solidFill>
            <a:srgbClr val="161B2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400"/>
              </a:spcAft>
              <a:defRPr b="1" sz="1300">
                <a:solidFill>
                  <a:srgbClr val="F59E0B"/>
                </a:solidFill>
              </a:defRPr>
            </a:pPr>
            <a:r>
              <a:t>👤 Developer Profile &amp; Contact Details</a:t>
            </a:r>
          </a:p>
          <a:p>
            <a:pPr>
              <a:spcAft>
                <a:spcPts val="250"/>
              </a:spcAft>
              <a:defRPr sz="1100">
                <a:solidFill>
                  <a:srgbClr val="F3F4F6"/>
                </a:solidFill>
              </a:defRPr>
            </a:pPr>
            <a:r>
              <a:t>• Developer Profile:</a:t>
            </a:r>
          </a:p>
          <a:p>
            <a:pPr>
              <a:spcAft>
                <a:spcPts val="250"/>
              </a:spcAft>
              <a:defRPr sz="1100">
                <a:solidFill>
                  <a:srgbClr val="F3F4F6"/>
                </a:solidFill>
              </a:defRPr>
            </a:pPr>
            <a:r>
              <a:t>  Elang Esa Yudhistira</a:t>
            </a:r>
          </a:p>
          <a:p>
            <a:pPr>
              <a:spcAft>
                <a:spcPts val="250"/>
              </a:spcAft>
              <a:defRPr sz="1100">
                <a:solidFill>
                  <a:srgbClr val="F3F4F6"/>
                </a:solidFill>
              </a:defRPr>
            </a:pPr>
            <a:r>
              <a:t>  Solo Game Designer, Story Writer &amp; Lead Programmer</a:t>
            </a:r>
          </a:p>
          <a:p>
            <a:pPr>
              <a:spcAft>
                <a:spcPts val="250"/>
              </a:spcAft>
              <a:defRPr sz="1100">
                <a:solidFill>
                  <a:srgbClr val="F3F4F6"/>
                </a:solidFill>
              </a:defRPr>
            </a:pPr>
            <a:r>
              <a:t>  Location: Indonesia 🇮🇩</a:t>
            </a:r>
          </a:p>
          <a:p>
            <a:pPr>
              <a:spcAft>
                <a:spcPts val="250"/>
              </a:spcAft>
              <a:defRPr sz="1100">
                <a:solidFill>
                  <a:srgbClr val="F3F4F6"/>
                </a:solidFill>
              </a:defRPr>
            </a:pPr>
          </a:p>
          <a:p>
            <a:pPr>
              <a:spcAft>
                <a:spcPts val="250"/>
              </a:spcAft>
              <a:defRPr sz="1100">
                <a:solidFill>
                  <a:srgbClr val="F3F4F6"/>
                </a:solidFill>
              </a:defRPr>
            </a:pPr>
            <a:r>
              <a:t>• Contact Email:</a:t>
            </a:r>
          </a:p>
          <a:p>
            <a:pPr>
              <a:spcAft>
                <a:spcPts val="250"/>
              </a:spcAft>
              <a:defRPr sz="1100">
                <a:solidFill>
                  <a:srgbClr val="F3F4F6"/>
                </a:solidFill>
              </a:defRPr>
            </a:pPr>
            <a:r>
              <a:t>  yelangesa@gmail.com</a:t>
            </a:r>
          </a:p>
          <a:p>
            <a:pPr>
              <a:spcAft>
                <a:spcPts val="250"/>
              </a:spcAft>
              <a:defRPr sz="1100">
                <a:solidFill>
                  <a:srgbClr val="F3F4F6"/>
                </a:solidFill>
              </a:defRPr>
            </a:pPr>
          </a:p>
          <a:p>
            <a:pPr>
              <a:spcAft>
                <a:spcPts val="250"/>
              </a:spcAft>
              <a:defRPr sz="1100">
                <a:solidFill>
                  <a:srgbClr val="F3F4F6"/>
                </a:solidFill>
              </a:defRPr>
            </a:pPr>
            <a:r>
              <a:t>• Portfolio &amp; Web Links:</a:t>
            </a:r>
          </a:p>
          <a:p>
            <a:pPr>
              <a:spcAft>
                <a:spcPts val="250"/>
              </a:spcAft>
              <a:defRPr sz="1100">
                <a:solidFill>
                  <a:srgbClr val="F3F4F6"/>
                </a:solidFill>
              </a:defRPr>
            </a:pPr>
            <a:r>
              <a:t>  - Itch.io: https://nealverse.itch.io</a:t>
            </a:r>
          </a:p>
          <a:p>
            <a:pPr>
              <a:spcAft>
                <a:spcPts val="250"/>
              </a:spcAft>
              <a:defRPr sz="1100">
                <a:solidFill>
                  <a:srgbClr val="F3F4F6"/>
                </a:solidFill>
              </a:defRPr>
            </a:pPr>
            <a:r>
              <a:t>  - GitHub: https://github.com/nealverseprime</a:t>
            </a:r>
          </a:p>
          <a:p>
            <a:pPr>
              <a:spcAft>
                <a:spcPts val="250"/>
              </a:spcAft>
              <a:defRPr sz="1100">
                <a:solidFill>
                  <a:srgbClr val="F3F4F6"/>
                </a:solidFill>
              </a:defRPr>
            </a:pPr>
            <a:r>
              <a:t>  - Game Repo: https://github.com/nealverseprime/ElementalHexTactics3D</a:t>
            </a:r>
          </a:p>
          <a:p>
            <a:pPr>
              <a:spcAft>
                <a:spcPts val="250"/>
              </a:spcAft>
              <a:defRPr sz="1100">
                <a:solidFill>
                  <a:srgbClr val="F3F4F6"/>
                </a:solidFill>
              </a:defRPr>
            </a:pPr>
            <a:r>
              <a:t>  - Web Pitch Deck: https://nealverseprime.github.io/ElementalHexTactics3D/</a:t>
            </a:r>
          </a:p>
          <a:p>
            <a:pPr>
              <a:spcAft>
                <a:spcPts val="250"/>
              </a:spcAft>
              <a:defRPr sz="1100">
                <a:solidFill>
                  <a:srgbClr val="F3F4F6"/>
                </a:solidFill>
              </a:defRPr>
            </a:pPr>
          </a:p>
          <a:p>
            <a:pPr>
              <a:spcAft>
                <a:spcPts val="250"/>
              </a:spcAft>
              <a:defRPr sz="1100">
                <a:solidFill>
                  <a:srgbClr val="F3F4F6"/>
                </a:solidFill>
              </a:defRPr>
            </a:pPr>
            <a:r>
              <a:t>Thank you for considering Elemental Hex Tactics for the TGFI grant!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